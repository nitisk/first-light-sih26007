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7.jpg" ContentType="image/jpeg"/>
  <Override PartName="/ppt/notesSlides/notesSlide5.xml" ContentType="application/vnd.openxmlformats-officedocument.presentationml.notesSlide+xml"/>
  <Override PartName="/ppt/media/image11.jpg" ContentType="image/jpeg"/>
  <Override PartName="/ppt/media/image12.jpg" ContentType="image/jpeg"/>
  <Override PartName="/ppt/media/image13.jpg" ContentType="image/jpeg"/>
  <Override PartName="/ppt/notesSlides/notesSlide6.xml" ContentType="application/vnd.openxmlformats-officedocument.presentationml.notesSlide+xml"/>
  <Override PartName="/ppt/media/image14.jpg" ContentType="image/jpeg"/>
  <Override PartName="/ppt/media/image15.jpg" ContentType="image/jpeg"/>
  <Override PartName="/ppt/media/image16.jpg" ContentType="image/jpeg"/>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51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73649-96AA-DF8B-113B-D211FC9F8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07818-5E84-EC97-4D47-7FDBE4E48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F1B6F-3434-0988-9D7E-801FDEA543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E79CE-5E7D-2103-7C99-13266F821B2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28215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E5DD7-EA51-4980-0322-076A18FCF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A695F-FAA3-2136-55F2-BC44CAA6A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50C8AE-8584-67C5-822D-3602C765B7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203F2D-C785-4385-E490-335C1BAF53D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45016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3C25-8249-C481-725E-D0A75A1EC2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FBA6F5-F85B-F0A6-7719-031589E6C5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36F88-50D8-360D-2622-59DDC39F56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167978-B2A1-BC36-62D8-6CB4737E8CD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89182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E"/>
        </a:solidFill>
        <a:effectLst/>
      </p:bgPr>
    </p:bg>
    <p:spTree>
      <p:nvGrpSpPr>
        <p:cNvPr id="1" name=""/>
        <p:cNvGrpSpPr/>
        <p:nvPr/>
      </p:nvGrpSpPr>
      <p:grpSpPr>
        <a:xfrm>
          <a:off x="0" y="0"/>
          <a:ext cx="0" cy="0"/>
          <a:chOff x="0" y="0"/>
          <a:chExt cx="0" cy="0"/>
        </a:xfrm>
      </p:grpSpPr>
      <p:pic>
        <p:nvPicPr>
          <p:cNvPr id="2" name="Image 0" descr="/home/claude/src_unpacked/ppt/media/image3.jpg"/>
          <p:cNvPicPr>
            <a:picLocks noChangeAspect="1"/>
          </p:cNvPicPr>
          <p:nvPr/>
        </p:nvPicPr>
        <p:blipFill>
          <a:blip r:embed="rId3"/>
          <a:srcRect/>
          <a:stretch/>
        </p:blipFill>
        <p:spPr>
          <a:xfrm>
            <a:off x="457200" y="548640"/>
            <a:ext cx="3246120" cy="4114800"/>
          </a:xfrm>
          <a:prstGeom prst="rect">
            <a:avLst/>
          </a:prstGeom>
        </p:spPr>
      </p:pic>
      <p:pic>
        <p:nvPicPr>
          <p:cNvPr id="3" name="Image 1" descr="/home/claude/src_unpacked/ppt/media/image4.jpg"/>
          <p:cNvPicPr>
            <a:picLocks noChangeAspect="1"/>
          </p:cNvPicPr>
          <p:nvPr/>
        </p:nvPicPr>
        <p:blipFill>
          <a:blip r:embed="rId4"/>
          <a:srcRect/>
          <a:stretch/>
        </p:blipFill>
        <p:spPr>
          <a:xfrm>
            <a:off x="3840480" y="1234440"/>
            <a:ext cx="2514600" cy="3429000"/>
          </a:xfrm>
          <a:prstGeom prst="rect">
            <a:avLst/>
          </a:prstGeom>
        </p:spPr>
      </p:pic>
      <p:pic>
        <p:nvPicPr>
          <p:cNvPr id="4" name="Image 2" descr="/home/claude/src_unpacked/ppt/media/image7.png"/>
          <p:cNvPicPr>
            <a:picLocks noChangeAspect="1"/>
          </p:cNvPicPr>
          <p:nvPr/>
        </p:nvPicPr>
        <p:blipFill>
          <a:blip r:embed="rId5">
            <a:alphaModFix amt="65000"/>
          </a:blip>
          <a:stretch>
            <a:fillRect/>
          </a:stretch>
        </p:blipFill>
        <p:spPr>
          <a:xfrm>
            <a:off x="10515600" y="-822960"/>
            <a:ext cx="2377440" cy="2377440"/>
          </a:xfrm>
          <a:prstGeom prst="rect">
            <a:avLst/>
          </a:prstGeom>
        </p:spPr>
      </p:pic>
      <p:sp>
        <p:nvSpPr>
          <p:cNvPr id="5" name="Text 0"/>
          <p:cNvSpPr/>
          <p:nvPr/>
        </p:nvSpPr>
        <p:spPr>
          <a:xfrm>
            <a:off x="6675120" y="502920"/>
            <a:ext cx="3657600" cy="274320"/>
          </a:xfrm>
          <a:prstGeom prst="rect">
            <a:avLst/>
          </a:prstGeom>
          <a:noFill/>
          <a:ln/>
        </p:spPr>
        <p:txBody>
          <a:bodyPr wrap="square" lIns="0" tIns="0" rIns="0" bIns="0" rtlCol="0" anchor="ctr"/>
          <a:lstStyle/>
          <a:p>
            <a:pPr marL="0" indent="0">
              <a:buNone/>
            </a:pPr>
            <a:r>
              <a:rPr lang="en-US" sz="1200" b="1" kern="0" spc="200" dirty="0">
                <a:solidFill>
                  <a:srgbClr val="F5A623"/>
                </a:solidFill>
                <a:latin typeface="Arial" pitchFamily="34" charset="0"/>
                <a:ea typeface="Arial" pitchFamily="34" charset="-122"/>
                <a:cs typeface="Arial" pitchFamily="34" charset="-120"/>
              </a:rPr>
              <a:t>SMART INDIA HACKATHON 2026</a:t>
            </a:r>
            <a:endParaRPr lang="en-US" sz="1200" dirty="0"/>
          </a:p>
        </p:txBody>
      </p:sp>
      <p:sp>
        <p:nvSpPr>
          <p:cNvPr id="6" name="Text 1"/>
          <p:cNvSpPr/>
          <p:nvPr/>
        </p:nvSpPr>
        <p:spPr>
          <a:xfrm>
            <a:off x="6675120" y="868680"/>
            <a:ext cx="5029200" cy="1737360"/>
          </a:xfrm>
          <a:prstGeom prst="rect">
            <a:avLst/>
          </a:prstGeom>
          <a:noFill/>
          <a:ln/>
        </p:spPr>
        <p:txBody>
          <a:bodyPr wrap="square" lIns="0" tIns="0" rIns="0" bIns="0" rtlCol="0" anchor="t"/>
          <a:lstStyle/>
          <a:p>
            <a:pPr marL="0" indent="0">
              <a:lnSpc>
                <a:spcPts val="3400"/>
              </a:lnSpc>
              <a:buNone/>
            </a:pPr>
            <a:r>
              <a:rPr lang="en-US" sz="3000" b="1" dirty="0">
                <a:solidFill>
                  <a:srgbClr val="FFFFFF"/>
                </a:solidFill>
                <a:latin typeface="Arial" pitchFamily="34" charset="0"/>
                <a:ea typeface="Arial" pitchFamily="34" charset="-122"/>
                <a:cs typeface="Arial" pitchFamily="34" charset="-120"/>
              </a:rPr>
              <a:t>Safe Mine Vehicle Operation in Fog &amp; Low Visibility</a:t>
            </a:r>
            <a:endParaRPr lang="en-US" sz="3000" dirty="0"/>
          </a:p>
        </p:txBody>
      </p:sp>
      <p:sp>
        <p:nvSpPr>
          <p:cNvPr id="7" name="Shape 2"/>
          <p:cNvSpPr/>
          <p:nvPr/>
        </p:nvSpPr>
        <p:spPr>
          <a:xfrm>
            <a:off x="6492240" y="2743200"/>
            <a:ext cx="5257800" cy="3493698"/>
          </a:xfrm>
          <a:prstGeom prst="roundRect">
            <a:avLst>
              <a:gd name="adj" fmla="val 2667"/>
            </a:avLst>
          </a:prstGeom>
          <a:solidFill>
            <a:srgbClr val="142B45"/>
          </a:solidFill>
          <a:ln/>
        </p:spPr>
        <p:txBody>
          <a:bodyPr/>
          <a:lstStyle/>
          <a:p>
            <a:endParaRPr lang="en-IN"/>
          </a:p>
        </p:txBody>
      </p:sp>
      <p:sp>
        <p:nvSpPr>
          <p:cNvPr id="8" name="Text 3"/>
          <p:cNvSpPr/>
          <p:nvPr/>
        </p:nvSpPr>
        <p:spPr>
          <a:xfrm>
            <a:off x="6766387" y="2992848"/>
            <a:ext cx="4937933" cy="2938847"/>
          </a:xfrm>
          <a:prstGeom prst="rect">
            <a:avLst/>
          </a:prstGeom>
          <a:noFill/>
          <a:ln/>
        </p:spPr>
        <p:txBody>
          <a:bodyPr wrap="square" lIns="0" tIns="0" rIns="0" bIns="0" rtlCol="0" anchor="t"/>
          <a:lstStyle/>
          <a:p>
            <a:pPr marL="0" indent="0">
              <a:lnSpc>
                <a:spcPts val="1700"/>
              </a:lnSpc>
              <a:buNone/>
            </a:pPr>
            <a:r>
              <a:rPr lang="en-US" sz="1500" dirty="0">
                <a:solidFill>
                  <a:srgbClr val="C7D2DE"/>
                </a:solidFill>
                <a:latin typeface="Arial" pitchFamily="34" charset="0"/>
                <a:ea typeface="Arial" pitchFamily="34" charset="-122"/>
                <a:cs typeface="Arial" pitchFamily="34" charset="-120"/>
              </a:rPr>
              <a:t>NMDC Limited is India's largest iron ore producer, producing approximately </a:t>
            </a:r>
            <a:r>
              <a:rPr lang="en-US" sz="1500" b="1" dirty="0">
                <a:solidFill>
                  <a:srgbClr val="F5A623"/>
                </a:solidFill>
                <a:latin typeface="Arial" pitchFamily="34" charset="0"/>
                <a:ea typeface="Arial" pitchFamily="34" charset="-122"/>
                <a:cs typeface="Arial" pitchFamily="34" charset="-120"/>
              </a:rPr>
              <a:t>53 Million Tonnes Per Annum</a:t>
            </a:r>
            <a:r>
              <a:rPr lang="en-US" sz="1500" dirty="0">
                <a:solidFill>
                  <a:srgbClr val="C7D2DE"/>
                </a:solidFill>
                <a:latin typeface="Arial" pitchFamily="34" charset="0"/>
                <a:ea typeface="Arial" pitchFamily="34" charset="-122"/>
                <a:cs typeface="Arial" pitchFamily="34" charset="-120"/>
              </a:rPr>
              <a:t> across three fully mechanized mining complexes — BIOM-Kirandul, BIOM-Bacheli (Chhattisgarh) and Donimalai (Karnataka).
Bailadila alone contributes nearly 37 MTPA — the single largest driver of NMDC's output. Under the National Steel Policy, NMDC targets </a:t>
            </a:r>
            <a:r>
              <a:rPr lang="en-US" sz="1500" b="1" dirty="0">
                <a:solidFill>
                  <a:srgbClr val="F5A623"/>
                </a:solidFill>
                <a:latin typeface="Arial" pitchFamily="34" charset="0"/>
                <a:ea typeface="Arial" pitchFamily="34" charset="-122"/>
                <a:cs typeface="Arial" pitchFamily="34" charset="-120"/>
              </a:rPr>
              <a:t>100 MT by 2030</a:t>
            </a:r>
            <a:r>
              <a:rPr lang="en-US" sz="1500" dirty="0">
                <a:solidFill>
                  <a:srgbClr val="C7D2DE"/>
                </a:solidFill>
                <a:latin typeface="Arial" pitchFamily="34" charset="0"/>
                <a:ea typeface="Arial" pitchFamily="34" charset="-122"/>
                <a:cs typeface="Arial" pitchFamily="34" charset="-120"/>
              </a:rPr>
              <a:t>, with roughly 80 MT expected from Bailadila. It is the region that has to carry most of NMDC's future growth.</a:t>
            </a:r>
            <a:endParaRPr lang="en-US" sz="1500" dirty="0"/>
          </a:p>
        </p:txBody>
      </p:sp>
      <p:sp>
        <p:nvSpPr>
          <p:cNvPr id="9" name="Text 4"/>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10" name="Text 5"/>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B2E"/>
        </a:solidFill>
        <a:effectLst/>
      </p:bgPr>
    </p:bg>
    <p:spTree>
      <p:nvGrpSpPr>
        <p:cNvPr id="1" name=""/>
        <p:cNvGrpSpPr/>
        <p:nvPr/>
      </p:nvGrpSpPr>
      <p:grpSpPr>
        <a:xfrm>
          <a:off x="0" y="0"/>
          <a:ext cx="0" cy="0"/>
          <a:chOff x="0" y="0"/>
          <a:chExt cx="0" cy="0"/>
        </a:xfrm>
      </p:grpSpPr>
      <p:pic>
        <p:nvPicPr>
          <p:cNvPr id="2" name="Image 0" descr="/home/claude/src_unpacked/ppt/media/image4.jpg"/>
          <p:cNvPicPr>
            <a:picLocks noChangeAspect="1"/>
          </p:cNvPicPr>
          <p:nvPr/>
        </p:nvPicPr>
        <p:blipFill>
          <a:blip r:embed="rId3"/>
          <a:srcRect/>
          <a:stretch/>
        </p:blipFill>
        <p:spPr>
          <a:xfrm>
            <a:off x="0" y="0"/>
            <a:ext cx="4206240" cy="6858000"/>
          </a:xfrm>
          <a:prstGeom prst="rect">
            <a:avLst/>
          </a:prstGeom>
        </p:spPr>
      </p:pic>
      <p:sp>
        <p:nvSpPr>
          <p:cNvPr id="3" name="Shape 0"/>
          <p:cNvSpPr/>
          <p:nvPr/>
        </p:nvSpPr>
        <p:spPr>
          <a:xfrm>
            <a:off x="0" y="0"/>
            <a:ext cx="4206240" cy="6858000"/>
          </a:xfrm>
          <a:prstGeom prst="rect">
            <a:avLst/>
          </a:prstGeom>
          <a:solidFill>
            <a:srgbClr val="0B1B2E">
              <a:alpha val="65000"/>
            </a:srgbClr>
          </a:solidFill>
          <a:ln/>
        </p:spPr>
        <p:txBody>
          <a:bodyPr/>
          <a:lstStyle/>
          <a:p>
            <a:endParaRPr lang="en-IN"/>
          </a:p>
        </p:txBody>
      </p:sp>
      <p:sp>
        <p:nvSpPr>
          <p:cNvPr id="4" name="Text 1"/>
          <p:cNvSpPr/>
          <p:nvPr/>
        </p:nvSpPr>
        <p:spPr>
          <a:xfrm>
            <a:off x="4617720" y="502920"/>
            <a:ext cx="3657600" cy="274320"/>
          </a:xfrm>
          <a:prstGeom prst="rect">
            <a:avLst/>
          </a:prstGeom>
          <a:noFill/>
          <a:ln/>
        </p:spPr>
        <p:txBody>
          <a:bodyPr wrap="square" lIns="0" tIns="0" rIns="0" bIns="0" rtlCol="0" anchor="ctr"/>
          <a:lstStyle/>
          <a:p>
            <a:pPr marL="0" indent="0">
              <a:buNone/>
            </a:pPr>
            <a:r>
              <a:rPr lang="en-US" b="1" kern="0" spc="200" dirty="0">
                <a:solidFill>
                  <a:srgbClr val="F5A623"/>
                </a:solidFill>
                <a:latin typeface="Arial" pitchFamily="34" charset="0"/>
                <a:ea typeface="Arial" pitchFamily="34" charset="-122"/>
                <a:cs typeface="Arial" pitchFamily="34" charset="-120"/>
              </a:rPr>
              <a:t>THE PROBLEM</a:t>
            </a:r>
            <a:endParaRPr lang="en-US" dirty="0"/>
          </a:p>
        </p:txBody>
      </p:sp>
      <p:sp>
        <p:nvSpPr>
          <p:cNvPr id="5" name="Text 2"/>
          <p:cNvSpPr/>
          <p:nvPr/>
        </p:nvSpPr>
        <p:spPr>
          <a:xfrm>
            <a:off x="4617720" y="822960"/>
            <a:ext cx="7040880" cy="64008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Monsoon Challenge</a:t>
            </a:r>
            <a:endParaRPr lang="en-US" sz="3200" dirty="0"/>
          </a:p>
        </p:txBody>
      </p:sp>
      <p:sp>
        <p:nvSpPr>
          <p:cNvPr id="6" name="Text 3"/>
          <p:cNvSpPr/>
          <p:nvPr/>
        </p:nvSpPr>
        <p:spPr>
          <a:xfrm>
            <a:off x="4617720" y="1417320"/>
            <a:ext cx="6995160" cy="914400"/>
          </a:xfrm>
          <a:prstGeom prst="rect">
            <a:avLst/>
          </a:prstGeom>
          <a:noFill/>
          <a:ln/>
        </p:spPr>
        <p:txBody>
          <a:bodyPr wrap="square" lIns="0" tIns="0" rIns="0" bIns="0" rtlCol="0" anchor="t"/>
          <a:lstStyle/>
          <a:p>
            <a:pPr marL="0" indent="0">
              <a:lnSpc>
                <a:spcPts val="1800"/>
              </a:lnSpc>
              <a:buNone/>
            </a:pPr>
            <a:r>
              <a:rPr lang="en-US" sz="1400" dirty="0">
                <a:solidFill>
                  <a:srgbClr val="C7D2DE"/>
                </a:solidFill>
                <a:latin typeface="Arial" pitchFamily="34" charset="0"/>
                <a:ea typeface="Arial" pitchFamily="34" charset="-122"/>
                <a:cs typeface="Arial" pitchFamily="34" charset="-120"/>
              </a:rPr>
              <a:t>Bailadila's growth target runs headlong into its geography and climate. From June to October, heavy rainfall, strong winds, high humidity and thick fog are routine — and on hilltop haul roads, visibility can collapse to almost nothing.</a:t>
            </a:r>
            <a:endParaRPr lang="en-US" sz="1400" dirty="0"/>
          </a:p>
        </p:txBody>
      </p:sp>
      <p:sp>
        <p:nvSpPr>
          <p:cNvPr id="7" name="Shape 4"/>
          <p:cNvSpPr/>
          <p:nvPr/>
        </p:nvSpPr>
        <p:spPr>
          <a:xfrm>
            <a:off x="4617720" y="2423160"/>
            <a:ext cx="2212848" cy="1234440"/>
          </a:xfrm>
          <a:prstGeom prst="roundRect">
            <a:avLst>
              <a:gd name="adj" fmla="val 5926"/>
            </a:avLst>
          </a:prstGeom>
          <a:solidFill>
            <a:srgbClr val="142B45"/>
          </a:solidFill>
          <a:ln/>
        </p:spPr>
        <p:txBody>
          <a:bodyPr/>
          <a:lstStyle/>
          <a:p>
            <a:endParaRPr lang="en-IN"/>
          </a:p>
        </p:txBody>
      </p:sp>
      <p:sp>
        <p:nvSpPr>
          <p:cNvPr id="8" name="Text 5"/>
          <p:cNvSpPr/>
          <p:nvPr/>
        </p:nvSpPr>
        <p:spPr>
          <a:xfrm>
            <a:off x="4754880" y="2542032"/>
            <a:ext cx="1938528" cy="502920"/>
          </a:xfrm>
          <a:prstGeom prst="rect">
            <a:avLst/>
          </a:prstGeom>
          <a:noFill/>
          <a:ln/>
        </p:spPr>
        <p:txBody>
          <a:bodyPr wrap="square" lIns="0" tIns="0" rIns="0" bIns="0" rtlCol="0" anchor="ctr"/>
          <a:lstStyle/>
          <a:p>
            <a:pPr marL="0" indent="0">
              <a:buNone/>
            </a:pPr>
            <a:r>
              <a:rPr lang="en-US" sz="2100" b="1" dirty="0">
                <a:solidFill>
                  <a:srgbClr val="F5A623"/>
                </a:solidFill>
                <a:latin typeface="Arial" pitchFamily="34" charset="0"/>
                <a:ea typeface="Arial" pitchFamily="34" charset="-122"/>
                <a:cs typeface="Arial" pitchFamily="34" charset="-120"/>
              </a:rPr>
              <a:t>3–5 m</a:t>
            </a:r>
            <a:endParaRPr lang="en-US" sz="2100" dirty="0"/>
          </a:p>
        </p:txBody>
      </p:sp>
      <p:sp>
        <p:nvSpPr>
          <p:cNvPr id="9" name="Text 6"/>
          <p:cNvSpPr/>
          <p:nvPr/>
        </p:nvSpPr>
        <p:spPr>
          <a:xfrm>
            <a:off x="4754880" y="3063240"/>
            <a:ext cx="1938528" cy="502920"/>
          </a:xfrm>
          <a:prstGeom prst="rect">
            <a:avLst/>
          </a:prstGeom>
          <a:noFill/>
          <a:ln/>
        </p:spPr>
        <p:txBody>
          <a:bodyPr wrap="square" lIns="0" tIns="0" rIns="0" bIns="0" rtlCol="0" anchor="ctr"/>
          <a:lstStyle/>
          <a:p>
            <a:pPr marL="0" indent="0">
              <a:lnSpc>
                <a:spcPts val="1300"/>
              </a:lnSpc>
              <a:buNone/>
            </a:pPr>
            <a:r>
              <a:rPr lang="en-US" sz="1050" dirty="0">
                <a:solidFill>
                  <a:srgbClr val="8FA0B3"/>
                </a:solidFill>
                <a:latin typeface="Arial" pitchFamily="34" charset="0"/>
                <a:ea typeface="Arial" pitchFamily="34" charset="-122"/>
                <a:cs typeface="Arial" pitchFamily="34" charset="-120"/>
              </a:rPr>
              <a:t>Visibility in dense fog</a:t>
            </a:r>
            <a:endParaRPr lang="en-US" sz="1050" dirty="0"/>
          </a:p>
        </p:txBody>
      </p:sp>
      <p:sp>
        <p:nvSpPr>
          <p:cNvPr id="10" name="Shape 7"/>
          <p:cNvSpPr/>
          <p:nvPr/>
        </p:nvSpPr>
        <p:spPr>
          <a:xfrm>
            <a:off x="7013448" y="2423160"/>
            <a:ext cx="2212848" cy="1234440"/>
          </a:xfrm>
          <a:prstGeom prst="roundRect">
            <a:avLst>
              <a:gd name="adj" fmla="val 5926"/>
            </a:avLst>
          </a:prstGeom>
          <a:solidFill>
            <a:srgbClr val="142B45"/>
          </a:solidFill>
          <a:ln/>
        </p:spPr>
        <p:txBody>
          <a:bodyPr/>
          <a:lstStyle/>
          <a:p>
            <a:endParaRPr lang="en-IN"/>
          </a:p>
        </p:txBody>
      </p:sp>
      <p:sp>
        <p:nvSpPr>
          <p:cNvPr id="11" name="Text 8"/>
          <p:cNvSpPr/>
          <p:nvPr/>
        </p:nvSpPr>
        <p:spPr>
          <a:xfrm>
            <a:off x="7150608" y="2542032"/>
            <a:ext cx="1938528" cy="502920"/>
          </a:xfrm>
          <a:prstGeom prst="rect">
            <a:avLst/>
          </a:prstGeom>
          <a:noFill/>
          <a:ln/>
        </p:spPr>
        <p:txBody>
          <a:bodyPr wrap="square" lIns="0" tIns="0" rIns="0" bIns="0" rtlCol="0" anchor="ctr"/>
          <a:lstStyle/>
          <a:p>
            <a:pPr marL="0" indent="0">
              <a:buNone/>
            </a:pPr>
            <a:r>
              <a:rPr lang="en-US" sz="2100" b="1" dirty="0">
                <a:solidFill>
                  <a:srgbClr val="F5A623"/>
                </a:solidFill>
                <a:latin typeface="Arial" pitchFamily="34" charset="0"/>
                <a:ea typeface="Arial" pitchFamily="34" charset="-122"/>
                <a:cs typeface="Arial" pitchFamily="34" charset="-120"/>
              </a:rPr>
              <a:t>Jun–Oct</a:t>
            </a:r>
            <a:endParaRPr lang="en-US" sz="2100" dirty="0"/>
          </a:p>
        </p:txBody>
      </p:sp>
      <p:sp>
        <p:nvSpPr>
          <p:cNvPr id="12" name="Text 9"/>
          <p:cNvSpPr/>
          <p:nvPr/>
        </p:nvSpPr>
        <p:spPr>
          <a:xfrm>
            <a:off x="7150608" y="3063240"/>
            <a:ext cx="1938528" cy="502920"/>
          </a:xfrm>
          <a:prstGeom prst="rect">
            <a:avLst/>
          </a:prstGeom>
          <a:noFill/>
          <a:ln/>
        </p:spPr>
        <p:txBody>
          <a:bodyPr wrap="square" lIns="0" tIns="0" rIns="0" bIns="0" rtlCol="0" anchor="ctr"/>
          <a:lstStyle/>
          <a:p>
            <a:pPr marL="0" indent="0">
              <a:lnSpc>
                <a:spcPts val="1300"/>
              </a:lnSpc>
              <a:buNone/>
            </a:pPr>
            <a:r>
              <a:rPr lang="en-US" sz="1050" dirty="0">
                <a:solidFill>
                  <a:srgbClr val="8FA0B3"/>
                </a:solidFill>
                <a:latin typeface="Arial" pitchFamily="34" charset="0"/>
                <a:ea typeface="Arial" pitchFamily="34" charset="-122"/>
                <a:cs typeface="Arial" pitchFamily="34" charset="-120"/>
              </a:rPr>
              <a:t>Monsoon season</a:t>
            </a:r>
            <a:endParaRPr lang="en-US" sz="1050" dirty="0"/>
          </a:p>
        </p:txBody>
      </p:sp>
      <p:sp>
        <p:nvSpPr>
          <p:cNvPr id="13" name="Shape 10"/>
          <p:cNvSpPr/>
          <p:nvPr/>
        </p:nvSpPr>
        <p:spPr>
          <a:xfrm>
            <a:off x="9409176" y="2423160"/>
            <a:ext cx="2212848" cy="1234440"/>
          </a:xfrm>
          <a:prstGeom prst="roundRect">
            <a:avLst>
              <a:gd name="adj" fmla="val 5926"/>
            </a:avLst>
          </a:prstGeom>
          <a:solidFill>
            <a:srgbClr val="142B45"/>
          </a:solidFill>
          <a:ln/>
        </p:spPr>
        <p:txBody>
          <a:bodyPr/>
          <a:lstStyle/>
          <a:p>
            <a:endParaRPr lang="en-IN"/>
          </a:p>
        </p:txBody>
      </p:sp>
      <p:sp>
        <p:nvSpPr>
          <p:cNvPr id="14" name="Text 11"/>
          <p:cNvSpPr/>
          <p:nvPr/>
        </p:nvSpPr>
        <p:spPr>
          <a:xfrm>
            <a:off x="9546336" y="2542032"/>
            <a:ext cx="1938528" cy="502920"/>
          </a:xfrm>
          <a:prstGeom prst="rect">
            <a:avLst/>
          </a:prstGeom>
          <a:noFill/>
          <a:ln/>
        </p:spPr>
        <p:txBody>
          <a:bodyPr wrap="square" lIns="0" tIns="0" rIns="0" bIns="0" rtlCol="0" anchor="ctr"/>
          <a:lstStyle/>
          <a:p>
            <a:pPr marL="0" indent="0">
              <a:buNone/>
            </a:pPr>
            <a:r>
              <a:rPr lang="en-US" sz="2100" b="1" dirty="0">
                <a:solidFill>
                  <a:srgbClr val="F5A623"/>
                </a:solidFill>
                <a:latin typeface="Arial" pitchFamily="34" charset="0"/>
                <a:ea typeface="Arial" pitchFamily="34" charset="-122"/>
                <a:cs typeface="Arial" pitchFamily="34" charset="-120"/>
              </a:rPr>
              <a:t>~5 months</a:t>
            </a:r>
            <a:endParaRPr lang="en-US" sz="2100" dirty="0"/>
          </a:p>
        </p:txBody>
      </p:sp>
      <p:sp>
        <p:nvSpPr>
          <p:cNvPr id="15" name="Text 12"/>
          <p:cNvSpPr/>
          <p:nvPr/>
        </p:nvSpPr>
        <p:spPr>
          <a:xfrm>
            <a:off x="9546336" y="3063240"/>
            <a:ext cx="1938528" cy="502920"/>
          </a:xfrm>
          <a:prstGeom prst="rect">
            <a:avLst/>
          </a:prstGeom>
          <a:noFill/>
          <a:ln/>
        </p:spPr>
        <p:txBody>
          <a:bodyPr wrap="square" lIns="0" tIns="0" rIns="0" bIns="0" rtlCol="0" anchor="ctr"/>
          <a:lstStyle/>
          <a:p>
            <a:pPr marL="0" indent="0">
              <a:lnSpc>
                <a:spcPts val="1300"/>
              </a:lnSpc>
              <a:buNone/>
            </a:pPr>
            <a:r>
              <a:rPr lang="en-US" sz="1050" dirty="0">
                <a:solidFill>
                  <a:srgbClr val="8FA0B3"/>
                </a:solidFill>
                <a:latin typeface="Arial" pitchFamily="34" charset="0"/>
                <a:ea typeface="Arial" pitchFamily="34" charset="-122"/>
                <a:cs typeface="Arial" pitchFamily="34" charset="-120"/>
              </a:rPr>
              <a:t>Every single year</a:t>
            </a:r>
            <a:endParaRPr lang="en-US" sz="1050" dirty="0"/>
          </a:p>
        </p:txBody>
      </p:sp>
      <p:sp>
        <p:nvSpPr>
          <p:cNvPr id="16" name="Shape 13"/>
          <p:cNvSpPr/>
          <p:nvPr/>
        </p:nvSpPr>
        <p:spPr>
          <a:xfrm>
            <a:off x="4617720" y="3886200"/>
            <a:ext cx="6995160" cy="1554480"/>
          </a:xfrm>
          <a:prstGeom prst="roundRect">
            <a:avLst>
              <a:gd name="adj" fmla="val 3137"/>
            </a:avLst>
          </a:prstGeom>
          <a:solidFill>
            <a:srgbClr val="1B3654"/>
          </a:solidFill>
          <a:ln/>
        </p:spPr>
        <p:txBody>
          <a:bodyPr/>
          <a:lstStyle/>
          <a:p>
            <a:endParaRPr lang="en-IN"/>
          </a:p>
        </p:txBody>
      </p:sp>
      <p:sp>
        <p:nvSpPr>
          <p:cNvPr id="17" name="Text 14"/>
          <p:cNvSpPr/>
          <p:nvPr/>
        </p:nvSpPr>
        <p:spPr>
          <a:xfrm>
            <a:off x="4846320" y="4069080"/>
            <a:ext cx="6537960" cy="1965960"/>
          </a:xfrm>
          <a:prstGeom prst="rect">
            <a:avLst/>
          </a:prstGeom>
          <a:noFill/>
          <a:ln/>
        </p:spPr>
        <p:txBody>
          <a:bodyPr wrap="square" lIns="0" tIns="0" rIns="0" bIns="0" rtlCol="0" anchor="t"/>
          <a:lstStyle/>
          <a:p>
            <a:pPr marL="0" indent="0">
              <a:lnSpc>
                <a:spcPts val="1900"/>
              </a:lnSpc>
              <a:buNone/>
            </a:pPr>
            <a:r>
              <a:rPr lang="en-US" sz="1400" dirty="0">
                <a:solidFill>
                  <a:srgbClr val="C7D2DE"/>
                </a:solidFill>
                <a:latin typeface="Arial" pitchFamily="34" charset="0"/>
                <a:ea typeface="Arial" pitchFamily="34" charset="-122"/>
                <a:cs typeface="Arial" pitchFamily="34" charset="-120"/>
              </a:rPr>
              <a:t>At 3–5 m visibility, Heavy Earth Moving Machinery, particularly ore-hauling dumpers can no longer move safely at normal speed. For nearly five months of the year, the very terrain that makes Bailadila productive also makes it one of the hardest places in the country to run mining operations safely.</a:t>
            </a:r>
            <a:endParaRPr lang="en-US" sz="1400" dirty="0"/>
          </a:p>
        </p:txBody>
      </p:sp>
      <p:sp>
        <p:nvSpPr>
          <p:cNvPr id="18" name="Text 15"/>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19" name="Text 16"/>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E"/>
        </a:solidFill>
        <a:effectLst/>
      </p:bgPr>
    </p:bg>
    <p:spTree>
      <p:nvGrpSpPr>
        <p:cNvPr id="1" name=""/>
        <p:cNvGrpSpPr/>
        <p:nvPr/>
      </p:nvGrpSpPr>
      <p:grpSpPr>
        <a:xfrm>
          <a:off x="0" y="0"/>
          <a:ext cx="0" cy="0"/>
          <a:chOff x="0" y="0"/>
          <a:chExt cx="0" cy="0"/>
        </a:xfrm>
      </p:grpSpPr>
      <p:sp>
        <p:nvSpPr>
          <p:cNvPr id="2" name="Text 0"/>
          <p:cNvSpPr/>
          <p:nvPr/>
        </p:nvSpPr>
        <p:spPr>
          <a:xfrm>
            <a:off x="457200" y="457200"/>
            <a:ext cx="3657600" cy="274320"/>
          </a:xfrm>
          <a:prstGeom prst="rect">
            <a:avLst/>
          </a:prstGeom>
          <a:noFill/>
          <a:ln/>
        </p:spPr>
        <p:txBody>
          <a:bodyPr wrap="square" lIns="0" tIns="0" rIns="0" bIns="0" rtlCol="0" anchor="ctr"/>
          <a:lstStyle/>
          <a:p>
            <a:pPr marL="0" indent="0">
              <a:buNone/>
            </a:pPr>
            <a:r>
              <a:rPr lang="en-US" b="1" kern="0" spc="200" dirty="0">
                <a:solidFill>
                  <a:srgbClr val="F5A623"/>
                </a:solidFill>
                <a:latin typeface="Arial" pitchFamily="34" charset="0"/>
                <a:ea typeface="Arial" pitchFamily="34" charset="-122"/>
                <a:cs typeface="Arial" pitchFamily="34" charset="-120"/>
              </a:rPr>
              <a:t>WHY IT MATTERS</a:t>
            </a:r>
            <a:endParaRPr lang="en-US" dirty="0"/>
          </a:p>
        </p:txBody>
      </p:sp>
      <p:sp>
        <p:nvSpPr>
          <p:cNvPr id="3" name="Text 1"/>
          <p:cNvSpPr/>
          <p:nvPr/>
        </p:nvSpPr>
        <p:spPr>
          <a:xfrm>
            <a:off x="457200" y="777240"/>
            <a:ext cx="11247120" cy="64008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The Stakes and the Shortfall</a:t>
            </a:r>
            <a:endParaRPr lang="en-US" sz="2800" dirty="0"/>
          </a:p>
        </p:txBody>
      </p:sp>
      <p:sp>
        <p:nvSpPr>
          <p:cNvPr id="4" name="Shape 2"/>
          <p:cNvSpPr/>
          <p:nvPr/>
        </p:nvSpPr>
        <p:spPr>
          <a:xfrm>
            <a:off x="457200" y="1600200"/>
            <a:ext cx="5440680" cy="4709160"/>
          </a:xfrm>
          <a:prstGeom prst="roundRect">
            <a:avLst>
              <a:gd name="adj" fmla="val 1553"/>
            </a:avLst>
          </a:prstGeom>
          <a:solidFill>
            <a:srgbClr val="142B45"/>
          </a:solidFill>
          <a:ln/>
        </p:spPr>
        <p:txBody>
          <a:bodyPr/>
          <a:lstStyle/>
          <a:p>
            <a:endParaRPr lang="en-IN"/>
          </a:p>
        </p:txBody>
      </p:sp>
      <p:sp>
        <p:nvSpPr>
          <p:cNvPr id="5" name="Text 3"/>
          <p:cNvSpPr/>
          <p:nvPr/>
        </p:nvSpPr>
        <p:spPr>
          <a:xfrm>
            <a:off x="685800" y="1783080"/>
            <a:ext cx="4983480" cy="320040"/>
          </a:xfrm>
          <a:prstGeom prst="rect">
            <a:avLst/>
          </a:prstGeom>
          <a:noFill/>
          <a:ln/>
        </p:spPr>
        <p:txBody>
          <a:bodyPr wrap="square" lIns="0" tIns="0" rIns="0" bIns="0" rtlCol="0" anchor="ctr"/>
          <a:lstStyle/>
          <a:p>
            <a:pPr marL="0" indent="0">
              <a:buNone/>
            </a:pPr>
            <a:r>
              <a:rPr lang="en-US" sz="1600" b="1" kern="0" spc="100" dirty="0">
                <a:solidFill>
                  <a:srgbClr val="F5A623"/>
                </a:solidFill>
                <a:latin typeface="Arial" pitchFamily="34" charset="0"/>
                <a:ea typeface="Arial" pitchFamily="34" charset="-122"/>
                <a:cs typeface="Arial" pitchFamily="34" charset="-120"/>
              </a:rPr>
              <a:t>THE URGENCY</a:t>
            </a:r>
            <a:endParaRPr lang="en-US" sz="1600" dirty="0"/>
          </a:p>
        </p:txBody>
      </p:sp>
      <p:sp>
        <p:nvSpPr>
          <p:cNvPr id="6" name="Text 4"/>
          <p:cNvSpPr/>
          <p:nvPr/>
        </p:nvSpPr>
        <p:spPr>
          <a:xfrm>
            <a:off x="579120" y="2391156"/>
            <a:ext cx="4983480" cy="4023360"/>
          </a:xfrm>
          <a:prstGeom prst="rect">
            <a:avLst/>
          </a:prstGeom>
          <a:noFill/>
          <a:ln/>
        </p:spPr>
        <p:txBody>
          <a:bodyPr wrap="square" lIns="0" tIns="0" rIns="0" bIns="0" rtlCol="0" anchor="t"/>
          <a:lstStyle/>
          <a:p>
            <a:pPr marL="0" indent="0">
              <a:lnSpc>
                <a:spcPts val="1650"/>
              </a:lnSpc>
              <a:buNone/>
            </a:pPr>
            <a:r>
              <a:rPr lang="en-US" sz="1400" dirty="0">
                <a:solidFill>
                  <a:srgbClr val="C7D2DE"/>
                </a:solidFill>
                <a:latin typeface="Arial" pitchFamily="34" charset="0"/>
                <a:ea typeface="Arial" pitchFamily="34" charset="-122"/>
                <a:cs typeface="Arial" pitchFamily="34" charset="-120"/>
              </a:rPr>
              <a:t>Dense fog during the monsoon creates major operational and safety challenges in the Bailadila mines. Poor visibility restricts dumper movement, forcing operators to slow down or halt entirely.</a:t>
            </a:r>
            <a:endParaRPr lang="en-US" sz="1400" dirty="0"/>
          </a:p>
          <a:p>
            <a:pPr marL="0" indent="0">
              <a:lnSpc>
                <a:spcPts val="1650"/>
              </a:lnSpc>
              <a:buNone/>
            </a:pPr>
            <a:endParaRPr lang="en-US" sz="1400" dirty="0"/>
          </a:p>
          <a:p>
            <a:pPr marL="0" indent="0">
              <a:lnSpc>
                <a:spcPts val="1650"/>
              </a:lnSpc>
              <a:buNone/>
            </a:pPr>
            <a:r>
              <a:rPr lang="en-US" sz="1400" dirty="0">
                <a:solidFill>
                  <a:srgbClr val="C7D2DE"/>
                </a:solidFill>
                <a:latin typeface="Arial" pitchFamily="34" charset="0"/>
                <a:ea typeface="Arial" pitchFamily="34" charset="-122"/>
                <a:cs typeface="Arial" pitchFamily="34" charset="-120"/>
              </a:rPr>
              <a:t>This directly drives up haul-cycle times, cuts fleet productivity, and reduces ore evacuation ,at the exact time NMDC needs Bailadila scaling toward 80 MT by 2030.</a:t>
            </a:r>
            <a:endParaRPr lang="en-US" sz="1400" dirty="0"/>
          </a:p>
          <a:p>
            <a:pPr marL="0" indent="0">
              <a:lnSpc>
                <a:spcPts val="1650"/>
              </a:lnSpc>
              <a:buNone/>
            </a:pPr>
            <a:endParaRPr lang="en-US" sz="1400" dirty="0"/>
          </a:p>
          <a:p>
            <a:pPr marL="0" indent="0">
              <a:lnSpc>
                <a:spcPts val="1650"/>
              </a:lnSpc>
              <a:buNone/>
            </a:pPr>
            <a:r>
              <a:rPr lang="en-US" sz="1400" dirty="0">
                <a:solidFill>
                  <a:srgbClr val="C7D2DE"/>
                </a:solidFill>
                <a:latin typeface="Arial" pitchFamily="34" charset="0"/>
                <a:ea typeface="Arial" pitchFamily="34" charset="-122"/>
                <a:cs typeface="Arial" pitchFamily="34" charset="-120"/>
              </a:rPr>
              <a:t>Beyond the productivity hit, the risk of collisions and operational disruption rises sharply every monsoon. This isn't occasional as it recurs for nearly five months every year, so any fix must run reliably through the entire monsoon window.</a:t>
            </a:r>
            <a:endParaRPr lang="en-US" sz="1400" dirty="0"/>
          </a:p>
        </p:txBody>
      </p:sp>
      <p:sp>
        <p:nvSpPr>
          <p:cNvPr id="7" name="Shape 5"/>
          <p:cNvSpPr/>
          <p:nvPr/>
        </p:nvSpPr>
        <p:spPr>
          <a:xfrm>
            <a:off x="6172200" y="1600200"/>
            <a:ext cx="5440680" cy="4709160"/>
          </a:xfrm>
          <a:prstGeom prst="roundRect">
            <a:avLst>
              <a:gd name="adj" fmla="val 1553"/>
            </a:avLst>
          </a:prstGeom>
          <a:solidFill>
            <a:srgbClr val="F5A623"/>
          </a:solidFill>
          <a:ln/>
        </p:spPr>
        <p:txBody>
          <a:bodyPr/>
          <a:lstStyle/>
          <a:p>
            <a:endParaRPr lang="en-IN"/>
          </a:p>
        </p:txBody>
      </p:sp>
      <p:sp>
        <p:nvSpPr>
          <p:cNvPr id="8" name="Text 6"/>
          <p:cNvSpPr/>
          <p:nvPr/>
        </p:nvSpPr>
        <p:spPr>
          <a:xfrm>
            <a:off x="6400800" y="1783080"/>
            <a:ext cx="4983480" cy="320040"/>
          </a:xfrm>
          <a:prstGeom prst="rect">
            <a:avLst/>
          </a:prstGeom>
          <a:noFill/>
          <a:ln/>
        </p:spPr>
        <p:txBody>
          <a:bodyPr wrap="square" lIns="0" tIns="0" rIns="0" bIns="0" rtlCol="0" anchor="ctr"/>
          <a:lstStyle/>
          <a:p>
            <a:pPr marL="0" indent="0">
              <a:buNone/>
            </a:pPr>
            <a:r>
              <a:rPr lang="en-US" sz="1600" b="1" kern="0" spc="100" dirty="0">
                <a:solidFill>
                  <a:schemeClr val="bg2">
                    <a:lumMod val="50000"/>
                  </a:schemeClr>
                </a:solidFill>
                <a:latin typeface="Arial" pitchFamily="34" charset="0"/>
                <a:ea typeface="Arial" pitchFamily="34" charset="-122"/>
                <a:cs typeface="Arial" pitchFamily="34" charset="-120"/>
              </a:rPr>
              <a:t>GAPS IN CURRENT SOLUTIONS</a:t>
            </a:r>
            <a:endParaRPr lang="en-US" sz="1600" dirty="0">
              <a:solidFill>
                <a:schemeClr val="bg2">
                  <a:lumMod val="50000"/>
                </a:schemeClr>
              </a:solidFill>
            </a:endParaRPr>
          </a:p>
        </p:txBody>
      </p:sp>
      <p:sp>
        <p:nvSpPr>
          <p:cNvPr id="9" name="Text 7"/>
          <p:cNvSpPr/>
          <p:nvPr/>
        </p:nvSpPr>
        <p:spPr>
          <a:xfrm>
            <a:off x="6400800" y="2377440"/>
            <a:ext cx="4983480" cy="4023360"/>
          </a:xfrm>
          <a:prstGeom prst="rect">
            <a:avLst/>
          </a:prstGeom>
          <a:noFill/>
          <a:ln/>
        </p:spPr>
        <p:txBody>
          <a:bodyPr wrap="square" lIns="0" tIns="0" rIns="0" bIns="0" rtlCol="0" anchor="t"/>
          <a:lstStyle/>
          <a:p>
            <a:pPr>
              <a:lnSpc>
                <a:spcPts val="1650"/>
              </a:lnSpc>
            </a:pPr>
            <a:r>
              <a:rPr lang="en-US" sz="1400" dirty="0">
                <a:solidFill>
                  <a:schemeClr val="tx1">
                    <a:lumMod val="75000"/>
                    <a:lumOff val="25000"/>
                  </a:schemeClr>
                </a:solidFill>
                <a:latin typeface="Arial" pitchFamily="34" charset="0"/>
                <a:cs typeface="Arial" pitchFamily="34" charset="-120"/>
              </a:rPr>
              <a:t>Existing visibility aids mostly rely on a single sensing method which is typically vision-based and is exactly what fails first as fog thickens.</a:t>
            </a:r>
          </a:p>
          <a:p>
            <a:pPr>
              <a:lnSpc>
                <a:spcPts val="1650"/>
              </a:lnSpc>
            </a:pPr>
            <a:endParaRPr lang="en-US" sz="1400" dirty="0">
              <a:solidFill>
                <a:schemeClr val="tx1">
                  <a:lumMod val="75000"/>
                  <a:lumOff val="25000"/>
                </a:schemeClr>
              </a:solidFill>
              <a:latin typeface="Arial" pitchFamily="34" charset="0"/>
              <a:cs typeface="Arial" pitchFamily="34" charset="-120"/>
            </a:endParaRPr>
          </a:p>
          <a:p>
            <a:pPr>
              <a:lnSpc>
                <a:spcPts val="1650"/>
              </a:lnSpc>
            </a:pPr>
            <a:r>
              <a:rPr lang="en-US" sz="1400" dirty="0">
                <a:solidFill>
                  <a:schemeClr val="tx1">
                    <a:lumMod val="75000"/>
                    <a:lumOff val="25000"/>
                  </a:schemeClr>
                </a:solidFill>
                <a:latin typeface="Arial" pitchFamily="34" charset="0"/>
                <a:cs typeface="Arial" pitchFamily="34" charset="-120"/>
              </a:rPr>
              <a:t>Current systems are reactive, not predictive: operators slow down only once a hazard is already close, instead of the system anticipating risk from relative motion and stopping distance.</a:t>
            </a:r>
          </a:p>
          <a:p>
            <a:pPr>
              <a:lnSpc>
                <a:spcPts val="1650"/>
              </a:lnSpc>
            </a:pPr>
            <a:endParaRPr lang="en-US" sz="1400" dirty="0">
              <a:solidFill>
                <a:schemeClr val="tx1">
                  <a:lumMod val="75000"/>
                  <a:lumOff val="25000"/>
                </a:schemeClr>
              </a:solidFill>
              <a:latin typeface="Arial" pitchFamily="34" charset="0"/>
              <a:cs typeface="Arial" pitchFamily="34" charset="-120"/>
            </a:endParaRPr>
          </a:p>
          <a:p>
            <a:pPr>
              <a:lnSpc>
                <a:spcPts val="1650"/>
              </a:lnSpc>
            </a:pPr>
            <a:r>
              <a:rPr lang="en-US" sz="1400" dirty="0">
                <a:solidFill>
                  <a:schemeClr val="tx1">
                    <a:lumMod val="75000"/>
                    <a:lumOff val="25000"/>
                  </a:schemeClr>
                </a:solidFill>
                <a:latin typeface="Arial" pitchFamily="34" charset="0"/>
                <a:cs typeface="Arial" pitchFamily="34" charset="-120"/>
              </a:rPr>
              <a:t>There's no shared awareness between vehicles, and safety margins don't adjust dynamically as sensor confidence degrades in fog, noise or rain thus leaving a system that depends almost entirely on manual caution.</a:t>
            </a:r>
          </a:p>
        </p:txBody>
      </p:sp>
      <p:sp>
        <p:nvSpPr>
          <p:cNvPr id="10" name="Text 8"/>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11" name="Text 9"/>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E"/>
        </a:solidFill>
        <a:effectLst/>
      </p:bgPr>
    </p:bg>
    <p:spTree>
      <p:nvGrpSpPr>
        <p:cNvPr id="1" name=""/>
        <p:cNvGrpSpPr/>
        <p:nvPr/>
      </p:nvGrpSpPr>
      <p:grpSpPr>
        <a:xfrm>
          <a:off x="0" y="0"/>
          <a:ext cx="0" cy="0"/>
          <a:chOff x="0" y="0"/>
          <a:chExt cx="0" cy="0"/>
        </a:xfrm>
      </p:grpSpPr>
      <p:sp>
        <p:nvSpPr>
          <p:cNvPr id="2" name="Text 0"/>
          <p:cNvSpPr/>
          <p:nvPr/>
        </p:nvSpPr>
        <p:spPr>
          <a:xfrm>
            <a:off x="457200" y="457200"/>
            <a:ext cx="3657600" cy="274320"/>
          </a:xfrm>
          <a:prstGeom prst="rect">
            <a:avLst/>
          </a:prstGeom>
          <a:noFill/>
          <a:ln/>
        </p:spPr>
        <p:txBody>
          <a:bodyPr wrap="square" lIns="0" tIns="0" rIns="0" bIns="0" rtlCol="0" anchor="ctr"/>
          <a:lstStyle/>
          <a:p>
            <a:pPr marL="0" indent="0">
              <a:buNone/>
            </a:pPr>
            <a:r>
              <a:rPr lang="en-US" sz="1400" b="1" kern="0" spc="200" dirty="0">
                <a:solidFill>
                  <a:srgbClr val="F5A623"/>
                </a:solidFill>
                <a:latin typeface="Arial" pitchFamily="34" charset="0"/>
                <a:ea typeface="Arial" pitchFamily="34" charset="-122"/>
                <a:cs typeface="Arial" pitchFamily="34" charset="-120"/>
              </a:rPr>
              <a:t>PROPOSED IDEA</a:t>
            </a:r>
            <a:endParaRPr lang="en-US" sz="1400" dirty="0"/>
          </a:p>
        </p:txBody>
      </p:sp>
      <p:sp>
        <p:nvSpPr>
          <p:cNvPr id="3" name="Text 1"/>
          <p:cNvSpPr/>
          <p:nvPr/>
        </p:nvSpPr>
        <p:spPr>
          <a:xfrm>
            <a:off x="457200" y="777240"/>
            <a:ext cx="6858000" cy="64008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Our Solution: First Light</a:t>
            </a:r>
            <a:endParaRPr lang="en-US" sz="2800" dirty="0"/>
          </a:p>
        </p:txBody>
      </p:sp>
      <p:sp>
        <p:nvSpPr>
          <p:cNvPr id="4" name="Text 2"/>
          <p:cNvSpPr/>
          <p:nvPr/>
        </p:nvSpPr>
        <p:spPr>
          <a:xfrm>
            <a:off x="457200" y="1508760"/>
            <a:ext cx="6309360" cy="960120"/>
          </a:xfrm>
          <a:prstGeom prst="rect">
            <a:avLst/>
          </a:prstGeom>
          <a:noFill/>
          <a:ln/>
        </p:spPr>
        <p:txBody>
          <a:bodyPr wrap="square" lIns="0" tIns="0" rIns="0" bIns="0" rtlCol="0" anchor="t"/>
          <a:lstStyle/>
          <a:p>
            <a:pPr marL="0" indent="0">
              <a:lnSpc>
                <a:spcPts val="1700"/>
              </a:lnSpc>
              <a:buNone/>
            </a:pPr>
            <a:r>
              <a:rPr lang="en-US" sz="1250" dirty="0">
                <a:solidFill>
                  <a:srgbClr val="C7D2DE"/>
                </a:solidFill>
                <a:latin typeface="Arial" pitchFamily="34" charset="0"/>
                <a:ea typeface="Arial" pitchFamily="34" charset="-122"/>
                <a:cs typeface="Arial" pitchFamily="34" charset="-120"/>
              </a:rPr>
              <a:t>First Light is a multi-sensor, predictive safety system. Instead of depending on any single sensor, it fuses LiDAR, camera, radar, GNSS, IMU and wheel-state data into one continuous picture of the vehicle's surroundings, position and motion.</a:t>
            </a:r>
            <a:endParaRPr lang="en-US" sz="1250" dirty="0"/>
          </a:p>
        </p:txBody>
      </p:sp>
      <p:pic>
        <p:nvPicPr>
          <p:cNvPr id="5" name="Image 0" descr="/home/claude/icons/sensors.png"/>
          <p:cNvPicPr>
            <a:picLocks noChangeAspect="1"/>
          </p:cNvPicPr>
          <p:nvPr/>
        </p:nvPicPr>
        <p:blipFill>
          <a:blip r:embed="rId3"/>
          <a:stretch>
            <a:fillRect/>
          </a:stretch>
        </p:blipFill>
        <p:spPr>
          <a:xfrm>
            <a:off x="457200" y="2606040"/>
            <a:ext cx="457200" cy="457200"/>
          </a:xfrm>
          <a:prstGeom prst="rect">
            <a:avLst/>
          </a:prstGeom>
        </p:spPr>
      </p:pic>
      <p:sp>
        <p:nvSpPr>
          <p:cNvPr id="6" name="Text 3"/>
          <p:cNvSpPr/>
          <p:nvPr/>
        </p:nvSpPr>
        <p:spPr>
          <a:xfrm>
            <a:off x="1051560" y="2560320"/>
            <a:ext cx="57150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Predictive hazard tracking</a:t>
            </a:r>
            <a:endParaRPr lang="en-US" sz="1600" dirty="0"/>
          </a:p>
        </p:txBody>
      </p:sp>
      <p:sp>
        <p:nvSpPr>
          <p:cNvPr id="7" name="Text 4"/>
          <p:cNvSpPr/>
          <p:nvPr/>
        </p:nvSpPr>
        <p:spPr>
          <a:xfrm>
            <a:off x="1051560" y="2880360"/>
            <a:ext cx="5715000" cy="777240"/>
          </a:xfrm>
          <a:prstGeom prst="rect">
            <a:avLst/>
          </a:prstGeom>
          <a:noFill/>
          <a:ln/>
        </p:spPr>
        <p:txBody>
          <a:bodyPr wrap="square" lIns="0" tIns="0" rIns="0" bIns="0" rtlCol="0" anchor="t"/>
          <a:lstStyle/>
          <a:p>
            <a:pPr marL="0" indent="0">
              <a:lnSpc>
                <a:spcPts val="1450"/>
              </a:lnSpc>
              <a:buNone/>
            </a:pPr>
            <a:r>
              <a:rPr lang="en-US" sz="1300" dirty="0">
                <a:solidFill>
                  <a:srgbClr val="C7D2DE"/>
                </a:solidFill>
                <a:latin typeface="Arial" pitchFamily="34" charset="0"/>
                <a:ea typeface="Arial" pitchFamily="34" charset="-122"/>
                <a:cs typeface="Arial" pitchFamily="34" charset="-120"/>
              </a:rPr>
              <a:t>Tracks relative motion, estimates time-to-collision and checks safe stopping distance thus shifting the vehicle from cruise to caution to full stop as needed.</a:t>
            </a:r>
            <a:endParaRPr lang="en-US" sz="1300" dirty="0"/>
          </a:p>
        </p:txBody>
      </p:sp>
      <p:pic>
        <p:nvPicPr>
          <p:cNvPr id="8" name="Image 1" descr="/home/claude/icons/broadcast.png"/>
          <p:cNvPicPr>
            <a:picLocks noChangeAspect="1"/>
          </p:cNvPicPr>
          <p:nvPr/>
        </p:nvPicPr>
        <p:blipFill>
          <a:blip r:embed="rId4"/>
          <a:stretch>
            <a:fillRect/>
          </a:stretch>
        </p:blipFill>
        <p:spPr>
          <a:xfrm>
            <a:off x="457200" y="3776472"/>
            <a:ext cx="457200" cy="457200"/>
          </a:xfrm>
          <a:prstGeom prst="rect">
            <a:avLst/>
          </a:prstGeom>
        </p:spPr>
      </p:pic>
      <p:sp>
        <p:nvSpPr>
          <p:cNvPr id="9" name="Text 5"/>
          <p:cNvSpPr/>
          <p:nvPr/>
        </p:nvSpPr>
        <p:spPr>
          <a:xfrm>
            <a:off x="1051560" y="3730752"/>
            <a:ext cx="57150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V2V hazard &amp; fog broadcast</a:t>
            </a:r>
            <a:endParaRPr lang="en-US" sz="1600" dirty="0"/>
          </a:p>
        </p:txBody>
      </p:sp>
      <p:sp>
        <p:nvSpPr>
          <p:cNvPr id="10" name="Text 6"/>
          <p:cNvSpPr/>
          <p:nvPr/>
        </p:nvSpPr>
        <p:spPr>
          <a:xfrm>
            <a:off x="1051560" y="4050792"/>
            <a:ext cx="5715000" cy="777240"/>
          </a:xfrm>
          <a:prstGeom prst="rect">
            <a:avLst/>
          </a:prstGeom>
          <a:noFill/>
          <a:ln/>
        </p:spPr>
        <p:txBody>
          <a:bodyPr wrap="square" lIns="0" tIns="0" rIns="0" bIns="0" rtlCol="0" anchor="t"/>
          <a:lstStyle/>
          <a:p>
            <a:pPr>
              <a:lnSpc>
                <a:spcPts val="1450"/>
              </a:lnSpc>
            </a:pPr>
            <a:r>
              <a:rPr lang="en-US" sz="1300" dirty="0">
                <a:solidFill>
                  <a:srgbClr val="C7D2DE"/>
                </a:solidFill>
                <a:latin typeface="Arial" pitchFamily="34" charset="0"/>
                <a:cs typeface="Arial" pitchFamily="34" charset="-120"/>
              </a:rPr>
              <a:t>Vehicles share hazard and fog observations over V2V comms, accounting for real-world message delay and loss.</a:t>
            </a:r>
          </a:p>
        </p:txBody>
      </p:sp>
      <p:pic>
        <p:nvPicPr>
          <p:cNvPr id="11" name="Image 2" descr="/home/claude/icons/shield.png"/>
          <p:cNvPicPr>
            <a:picLocks noChangeAspect="1"/>
          </p:cNvPicPr>
          <p:nvPr/>
        </p:nvPicPr>
        <p:blipFill>
          <a:blip r:embed="rId5"/>
          <a:stretch>
            <a:fillRect/>
          </a:stretch>
        </p:blipFill>
        <p:spPr>
          <a:xfrm>
            <a:off x="457200" y="4946904"/>
            <a:ext cx="457200" cy="457200"/>
          </a:xfrm>
          <a:prstGeom prst="rect">
            <a:avLst/>
          </a:prstGeom>
        </p:spPr>
      </p:pic>
      <p:sp>
        <p:nvSpPr>
          <p:cNvPr id="12" name="Text 7"/>
          <p:cNvSpPr/>
          <p:nvPr/>
        </p:nvSpPr>
        <p:spPr>
          <a:xfrm>
            <a:off x="1051560" y="4901184"/>
            <a:ext cx="571500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Automated junction safety</a:t>
            </a:r>
            <a:endParaRPr lang="en-US" sz="1600" dirty="0"/>
          </a:p>
        </p:txBody>
      </p:sp>
      <p:sp>
        <p:nvSpPr>
          <p:cNvPr id="13" name="Text 8"/>
          <p:cNvSpPr/>
          <p:nvPr/>
        </p:nvSpPr>
        <p:spPr>
          <a:xfrm>
            <a:off x="1051560" y="5221224"/>
            <a:ext cx="5715000" cy="777240"/>
          </a:xfrm>
          <a:prstGeom prst="rect">
            <a:avLst/>
          </a:prstGeom>
          <a:noFill/>
          <a:ln/>
        </p:spPr>
        <p:txBody>
          <a:bodyPr wrap="square" lIns="0" tIns="0" rIns="0" bIns="0" rtlCol="0" anchor="t"/>
          <a:lstStyle/>
          <a:p>
            <a:pPr marL="0" indent="0">
              <a:lnSpc>
                <a:spcPts val="1450"/>
              </a:lnSpc>
              <a:buNone/>
            </a:pPr>
            <a:r>
              <a:rPr lang="en-US" sz="1300" dirty="0">
                <a:solidFill>
                  <a:srgbClr val="C7D2DE"/>
                </a:solidFill>
                <a:latin typeface="Arial" pitchFamily="34" charset="0"/>
                <a:cs typeface="Arial" pitchFamily="34" charset="-120"/>
              </a:rPr>
              <a:t>Identifies conflicts between approaching vehicles and assigns yielding which helps in preventing collisions without operator intervention.</a:t>
            </a:r>
          </a:p>
        </p:txBody>
      </p:sp>
      <p:sp>
        <p:nvSpPr>
          <p:cNvPr id="15" name="Shape 9"/>
          <p:cNvSpPr/>
          <p:nvPr/>
        </p:nvSpPr>
        <p:spPr>
          <a:xfrm>
            <a:off x="7086600" y="4105656"/>
            <a:ext cx="4663440" cy="822960"/>
          </a:xfrm>
          <a:prstGeom prst="roundRect">
            <a:avLst>
              <a:gd name="adj" fmla="val 8889"/>
            </a:avLst>
          </a:prstGeom>
          <a:solidFill>
            <a:srgbClr val="142B45"/>
          </a:solidFill>
          <a:ln/>
        </p:spPr>
        <p:txBody>
          <a:bodyPr/>
          <a:lstStyle/>
          <a:p>
            <a:endParaRPr lang="en-IN"/>
          </a:p>
        </p:txBody>
      </p:sp>
      <p:sp>
        <p:nvSpPr>
          <p:cNvPr id="16" name="Text 10"/>
          <p:cNvSpPr/>
          <p:nvPr/>
        </p:nvSpPr>
        <p:spPr>
          <a:xfrm>
            <a:off x="7269480" y="4108071"/>
            <a:ext cx="1188720" cy="822960"/>
          </a:xfrm>
          <a:prstGeom prst="rect">
            <a:avLst/>
          </a:prstGeom>
          <a:noFill/>
          <a:ln/>
        </p:spPr>
        <p:txBody>
          <a:bodyPr wrap="square" lIns="0" tIns="0" rIns="0" bIns="0" rtlCol="0" anchor="ctr"/>
          <a:lstStyle/>
          <a:p>
            <a:pPr marL="0" indent="0">
              <a:buNone/>
            </a:pPr>
            <a:r>
              <a:rPr lang="en-US" sz="2800" b="1" dirty="0">
                <a:solidFill>
                  <a:srgbClr val="F5A623"/>
                </a:solidFill>
                <a:latin typeface="Arial" pitchFamily="34" charset="0"/>
                <a:ea typeface="Arial" pitchFamily="34" charset="-122"/>
                <a:cs typeface="Arial" pitchFamily="34" charset="-120"/>
              </a:rPr>
              <a:t>6</a:t>
            </a:r>
            <a:endParaRPr lang="en-US" sz="2800" dirty="0"/>
          </a:p>
        </p:txBody>
      </p:sp>
      <p:sp>
        <p:nvSpPr>
          <p:cNvPr id="17" name="Text 11"/>
          <p:cNvSpPr/>
          <p:nvPr/>
        </p:nvSpPr>
        <p:spPr>
          <a:xfrm>
            <a:off x="7543800" y="4132398"/>
            <a:ext cx="3200400" cy="822960"/>
          </a:xfrm>
          <a:prstGeom prst="rect">
            <a:avLst/>
          </a:prstGeom>
          <a:noFill/>
          <a:ln/>
        </p:spPr>
        <p:txBody>
          <a:bodyPr wrap="square" lIns="0" tIns="0" rIns="0" bIns="0" rtlCol="0" anchor="ctr"/>
          <a:lstStyle/>
          <a:p>
            <a:pPr marL="0" indent="0">
              <a:buNone/>
            </a:pPr>
            <a:r>
              <a:rPr lang="en-US" sz="1600" dirty="0">
                <a:solidFill>
                  <a:srgbClr val="C7D2DE"/>
                </a:solidFill>
                <a:latin typeface="Arial" pitchFamily="34" charset="0"/>
                <a:ea typeface="Arial" pitchFamily="34" charset="-122"/>
                <a:cs typeface="Arial" pitchFamily="34" charset="-120"/>
              </a:rPr>
              <a:t>sensor modalities fused</a:t>
            </a:r>
            <a:endParaRPr lang="en-US" sz="1600" dirty="0"/>
          </a:p>
        </p:txBody>
      </p:sp>
      <p:sp>
        <p:nvSpPr>
          <p:cNvPr id="18" name="Shape 12"/>
          <p:cNvSpPr/>
          <p:nvPr/>
        </p:nvSpPr>
        <p:spPr>
          <a:xfrm>
            <a:off x="7086600" y="5074920"/>
            <a:ext cx="4663440" cy="822960"/>
          </a:xfrm>
          <a:prstGeom prst="roundRect">
            <a:avLst>
              <a:gd name="adj" fmla="val 8889"/>
            </a:avLst>
          </a:prstGeom>
          <a:solidFill>
            <a:srgbClr val="142B45"/>
          </a:solidFill>
          <a:ln/>
        </p:spPr>
        <p:txBody>
          <a:bodyPr/>
          <a:lstStyle/>
          <a:p>
            <a:endParaRPr lang="en-IN" dirty="0"/>
          </a:p>
        </p:txBody>
      </p:sp>
      <p:sp>
        <p:nvSpPr>
          <p:cNvPr id="19" name="Text 13"/>
          <p:cNvSpPr/>
          <p:nvPr/>
        </p:nvSpPr>
        <p:spPr>
          <a:xfrm>
            <a:off x="7269480" y="5074920"/>
            <a:ext cx="1188720" cy="822960"/>
          </a:xfrm>
          <a:prstGeom prst="rect">
            <a:avLst/>
          </a:prstGeom>
          <a:noFill/>
          <a:ln/>
        </p:spPr>
        <p:txBody>
          <a:bodyPr wrap="square" lIns="0" tIns="0" rIns="0" bIns="0" rtlCol="0" anchor="ctr"/>
          <a:lstStyle/>
          <a:p>
            <a:pPr marL="0" indent="0">
              <a:buNone/>
            </a:pPr>
            <a:r>
              <a:rPr lang="en-US" sz="2800" b="1" dirty="0">
                <a:solidFill>
                  <a:srgbClr val="F5A623"/>
                </a:solidFill>
                <a:latin typeface="Arial" pitchFamily="34" charset="0"/>
                <a:ea typeface="Arial" pitchFamily="34" charset="-122"/>
                <a:cs typeface="Arial" pitchFamily="34" charset="-120"/>
              </a:rPr>
              <a:t>24/7</a:t>
            </a:r>
            <a:endParaRPr lang="en-US" sz="2800" dirty="0"/>
          </a:p>
        </p:txBody>
      </p:sp>
      <p:sp>
        <p:nvSpPr>
          <p:cNvPr id="20" name="Text 14"/>
          <p:cNvSpPr/>
          <p:nvPr/>
        </p:nvSpPr>
        <p:spPr>
          <a:xfrm>
            <a:off x="8058797" y="5074920"/>
            <a:ext cx="3200400" cy="822960"/>
          </a:xfrm>
          <a:prstGeom prst="rect">
            <a:avLst/>
          </a:prstGeom>
          <a:noFill/>
          <a:ln/>
        </p:spPr>
        <p:txBody>
          <a:bodyPr wrap="square" lIns="0" tIns="0" rIns="0" bIns="0" rtlCol="0" anchor="ctr"/>
          <a:lstStyle/>
          <a:p>
            <a:pPr marL="0" indent="0">
              <a:buNone/>
            </a:pPr>
            <a:r>
              <a:rPr lang="en-US" sz="1600" dirty="0">
                <a:solidFill>
                  <a:srgbClr val="C7D2DE"/>
                </a:solidFill>
                <a:latin typeface="Arial" pitchFamily="34" charset="0"/>
                <a:cs typeface="Arial" pitchFamily="34" charset="-120"/>
              </a:rPr>
              <a:t>predictive monitoring</a:t>
            </a:r>
          </a:p>
        </p:txBody>
      </p:sp>
      <p:sp>
        <p:nvSpPr>
          <p:cNvPr id="21" name="Text 15"/>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22" name="Text 16"/>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4</a:t>
            </a:r>
            <a:endParaRPr lang="en-US" sz="900" dirty="0"/>
          </a:p>
        </p:txBody>
      </p:sp>
      <p:pic>
        <p:nvPicPr>
          <p:cNvPr id="23" name="Picture 22" descr="haul_truck.jpg"/>
          <p:cNvPicPr>
            <a:picLocks noChangeAspect="1"/>
          </p:cNvPicPr>
          <p:nvPr/>
        </p:nvPicPr>
        <p:blipFill>
          <a:blip r:embed="rId6"/>
          <a:srcRect l="1756" t="3915" r="2238" b="3582"/>
          <a:stretch>
            <a:fillRect/>
          </a:stretch>
        </p:blipFill>
        <p:spPr>
          <a:xfrm>
            <a:off x="6906860" y="731520"/>
            <a:ext cx="4738801" cy="29992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a:extLst>
            <a:ext uri="{FF2B5EF4-FFF2-40B4-BE49-F238E27FC236}">
              <a16:creationId xmlns:a16="http://schemas.microsoft.com/office/drawing/2014/main" id="{1EBE51EE-584B-9200-6AEC-4130102694EE}"/>
            </a:ext>
          </a:extLst>
        </p:cNvPr>
        <p:cNvGrpSpPr/>
        <p:nvPr/>
      </p:nvGrpSpPr>
      <p:grpSpPr>
        <a:xfrm>
          <a:off x="0" y="0"/>
          <a:ext cx="0" cy="0"/>
          <a:chOff x="0" y="0"/>
          <a:chExt cx="0" cy="0"/>
        </a:xfrm>
      </p:grpSpPr>
      <p:sp>
        <p:nvSpPr>
          <p:cNvPr id="24" name="Text 0">
            <a:extLst>
              <a:ext uri="{FF2B5EF4-FFF2-40B4-BE49-F238E27FC236}">
                <a16:creationId xmlns:a16="http://schemas.microsoft.com/office/drawing/2014/main" id="{5A180F24-1AAF-7D3D-B72B-4BE5910A5AD5}"/>
              </a:ext>
            </a:extLst>
          </p:cNvPr>
          <p:cNvSpPr/>
          <p:nvPr/>
        </p:nvSpPr>
        <p:spPr>
          <a:xfrm>
            <a:off x="457200" y="411480"/>
            <a:ext cx="3657600" cy="274320"/>
          </a:xfrm>
          <a:prstGeom prst="rect">
            <a:avLst/>
          </a:prstGeom>
          <a:noFill/>
          <a:ln/>
        </p:spPr>
        <p:txBody>
          <a:bodyPr wrap="square" lIns="0" tIns="0" rIns="0" bIns="0" rtlCol="0" anchor="ctr"/>
          <a:lstStyle/>
          <a:p>
            <a:pPr marL="0" indent="0">
              <a:buNone/>
            </a:pPr>
            <a:r>
              <a:rPr lang="en-US" sz="1400" b="1" kern="0" spc="200" dirty="0">
                <a:solidFill>
                  <a:srgbClr val="F5A623"/>
                </a:solidFill>
                <a:latin typeface="Arial" pitchFamily="34" charset="0"/>
                <a:ea typeface="Arial" pitchFamily="34" charset="-122"/>
                <a:cs typeface="Arial" pitchFamily="34" charset="-120"/>
              </a:rPr>
              <a:t>TECHNICAL APPROACH</a:t>
            </a:r>
            <a:endParaRPr lang="en-US" sz="1400" dirty="0"/>
          </a:p>
        </p:txBody>
      </p:sp>
      <p:sp>
        <p:nvSpPr>
          <p:cNvPr id="26" name="Text 1">
            <a:extLst>
              <a:ext uri="{FF2B5EF4-FFF2-40B4-BE49-F238E27FC236}">
                <a16:creationId xmlns:a16="http://schemas.microsoft.com/office/drawing/2014/main" id="{BDB719BA-BE45-223B-D6D2-F0F96DA564E3}"/>
              </a:ext>
            </a:extLst>
          </p:cNvPr>
          <p:cNvSpPr/>
          <p:nvPr/>
        </p:nvSpPr>
        <p:spPr>
          <a:xfrm>
            <a:off x="457200" y="71323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3-Layer Fog-Safe Vehicle System</a:t>
            </a:r>
            <a:endParaRPr lang="en-US" sz="2800" dirty="0"/>
          </a:p>
        </p:txBody>
      </p:sp>
      <p:sp>
        <p:nvSpPr>
          <p:cNvPr id="28" name="Text 2">
            <a:extLst>
              <a:ext uri="{FF2B5EF4-FFF2-40B4-BE49-F238E27FC236}">
                <a16:creationId xmlns:a16="http://schemas.microsoft.com/office/drawing/2014/main" id="{F7E6EBF3-0F4F-5946-F2F1-0CDFB11A29F0}"/>
              </a:ext>
            </a:extLst>
          </p:cNvPr>
          <p:cNvSpPr/>
          <p:nvPr/>
        </p:nvSpPr>
        <p:spPr>
          <a:xfrm>
            <a:off x="457200" y="1207008"/>
            <a:ext cx="6492240" cy="548640"/>
          </a:xfrm>
          <a:prstGeom prst="rect">
            <a:avLst/>
          </a:prstGeom>
          <a:noFill/>
          <a:ln/>
        </p:spPr>
        <p:txBody>
          <a:bodyPr wrap="square" lIns="0" tIns="0" rIns="0" bIns="0" rtlCol="0" anchor="ctr"/>
          <a:lstStyle/>
          <a:p>
            <a:pPr marL="0" indent="0">
              <a:lnSpc>
                <a:spcPts val="1500"/>
              </a:lnSpc>
              <a:buNone/>
            </a:pPr>
            <a:r>
              <a:rPr lang="en-US" sz="1400" dirty="0">
                <a:solidFill>
                  <a:srgbClr val="8FA0B3"/>
                </a:solidFill>
                <a:latin typeface="Arial" pitchFamily="34" charset="0"/>
                <a:ea typeface="Arial" pitchFamily="34" charset="-122"/>
                <a:cs typeface="Arial" pitchFamily="34" charset="-120"/>
              </a:rPr>
              <a:t>A three-layer integrated system ensuring safe, fog-resilient vehicle operations across open-cut mining environments.</a:t>
            </a:r>
            <a:endParaRPr lang="en-US" sz="1400" dirty="0"/>
          </a:p>
        </p:txBody>
      </p:sp>
      <p:sp>
        <p:nvSpPr>
          <p:cNvPr id="30" name="Shape 3">
            <a:extLst>
              <a:ext uri="{FF2B5EF4-FFF2-40B4-BE49-F238E27FC236}">
                <a16:creationId xmlns:a16="http://schemas.microsoft.com/office/drawing/2014/main" id="{161E9E4A-8CDE-49E7-A9A8-569382CCFF70}"/>
              </a:ext>
            </a:extLst>
          </p:cNvPr>
          <p:cNvSpPr/>
          <p:nvPr/>
        </p:nvSpPr>
        <p:spPr>
          <a:xfrm>
            <a:off x="457200" y="1874520"/>
            <a:ext cx="6492240" cy="1051560"/>
          </a:xfrm>
          <a:prstGeom prst="roundRect">
            <a:avLst>
              <a:gd name="adj" fmla="val 6957"/>
            </a:avLst>
          </a:prstGeom>
          <a:solidFill>
            <a:srgbClr val="142B45"/>
          </a:solidFill>
          <a:ln/>
        </p:spPr>
        <p:txBody>
          <a:bodyPr/>
          <a:lstStyle/>
          <a:p>
            <a:endParaRPr lang="en-IN" sz="2000"/>
          </a:p>
        </p:txBody>
      </p:sp>
      <p:pic>
        <p:nvPicPr>
          <p:cNvPr id="32" name="Image 0" descr="/home/claude/icons/radar.png">
            <a:extLst>
              <a:ext uri="{FF2B5EF4-FFF2-40B4-BE49-F238E27FC236}">
                <a16:creationId xmlns:a16="http://schemas.microsoft.com/office/drawing/2014/main" id="{F3997107-5013-2DB6-C29E-BE7D9E46B423}"/>
              </a:ext>
            </a:extLst>
          </p:cNvPr>
          <p:cNvPicPr>
            <a:picLocks noChangeAspect="1"/>
          </p:cNvPicPr>
          <p:nvPr/>
        </p:nvPicPr>
        <p:blipFill>
          <a:blip r:embed="rId3"/>
          <a:stretch>
            <a:fillRect/>
          </a:stretch>
        </p:blipFill>
        <p:spPr>
          <a:xfrm>
            <a:off x="658368" y="2130552"/>
            <a:ext cx="457200" cy="457200"/>
          </a:xfrm>
          <a:prstGeom prst="rect">
            <a:avLst/>
          </a:prstGeom>
        </p:spPr>
      </p:pic>
      <p:sp>
        <p:nvSpPr>
          <p:cNvPr id="34" name="Text 4">
            <a:extLst>
              <a:ext uri="{FF2B5EF4-FFF2-40B4-BE49-F238E27FC236}">
                <a16:creationId xmlns:a16="http://schemas.microsoft.com/office/drawing/2014/main" id="{E168EB5C-F5A7-778A-C2FE-C1314976938B}"/>
              </a:ext>
            </a:extLst>
          </p:cNvPr>
          <p:cNvSpPr/>
          <p:nvPr/>
        </p:nvSpPr>
        <p:spPr>
          <a:xfrm>
            <a:off x="1280160" y="2002536"/>
            <a:ext cx="5029200"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Layer 1 — On-Vehicle Sensing</a:t>
            </a:r>
            <a:endParaRPr lang="en-US" sz="1500" dirty="0"/>
          </a:p>
        </p:txBody>
      </p:sp>
      <p:sp>
        <p:nvSpPr>
          <p:cNvPr id="36" name="Text 5">
            <a:extLst>
              <a:ext uri="{FF2B5EF4-FFF2-40B4-BE49-F238E27FC236}">
                <a16:creationId xmlns:a16="http://schemas.microsoft.com/office/drawing/2014/main" id="{2E6F210E-1CC4-7704-8F23-B5D2045DC9CE}"/>
              </a:ext>
            </a:extLst>
          </p:cNvPr>
          <p:cNvSpPr/>
          <p:nvPr/>
        </p:nvSpPr>
        <p:spPr>
          <a:xfrm>
            <a:off x="1280160" y="2350008"/>
            <a:ext cx="5029200" cy="457200"/>
          </a:xfrm>
          <a:prstGeom prst="rect">
            <a:avLst/>
          </a:prstGeom>
          <a:noFill/>
          <a:ln/>
        </p:spPr>
        <p:txBody>
          <a:bodyPr wrap="square" lIns="0" tIns="0" rIns="0" bIns="0" rtlCol="0" anchor="ctr"/>
          <a:lstStyle/>
          <a:p>
            <a:pPr marL="0" indent="0">
              <a:lnSpc>
                <a:spcPts val="1300"/>
              </a:lnSpc>
              <a:buNone/>
            </a:pPr>
            <a:r>
              <a:rPr lang="en-US" sz="1300" dirty="0">
                <a:solidFill>
                  <a:srgbClr val="C7D2DE"/>
                </a:solidFill>
                <a:latin typeface="Arial" pitchFamily="34" charset="0"/>
                <a:ea typeface="Arial" pitchFamily="34" charset="-122"/>
                <a:cs typeface="Arial" pitchFamily="34" charset="-120"/>
              </a:rPr>
              <a:t>Radar array · Thermal camera · DGPS positioning</a:t>
            </a:r>
            <a:endParaRPr lang="en-US" sz="1300" dirty="0"/>
          </a:p>
        </p:txBody>
      </p:sp>
      <p:sp>
        <p:nvSpPr>
          <p:cNvPr id="38" name="Text 6">
            <a:extLst>
              <a:ext uri="{FF2B5EF4-FFF2-40B4-BE49-F238E27FC236}">
                <a16:creationId xmlns:a16="http://schemas.microsoft.com/office/drawing/2014/main" id="{D3F3C2FF-A092-7AD9-9506-D5175627994E}"/>
              </a:ext>
            </a:extLst>
          </p:cNvPr>
          <p:cNvSpPr/>
          <p:nvPr/>
        </p:nvSpPr>
        <p:spPr>
          <a:xfrm>
            <a:off x="3566160" y="2907792"/>
            <a:ext cx="274320" cy="201168"/>
          </a:xfrm>
          <a:prstGeom prst="rect">
            <a:avLst/>
          </a:prstGeom>
          <a:noFill/>
          <a:ln/>
        </p:spPr>
        <p:txBody>
          <a:bodyPr wrap="square" lIns="0" tIns="0" rIns="0" bIns="0" rtlCol="0" anchor="ctr"/>
          <a:lstStyle/>
          <a:p>
            <a:pPr marL="0" indent="0" algn="ctr">
              <a:buNone/>
            </a:pPr>
            <a:endParaRPr lang="en-US" sz="1300" dirty="0"/>
          </a:p>
        </p:txBody>
      </p:sp>
      <p:sp>
        <p:nvSpPr>
          <p:cNvPr id="40" name="Shape 7">
            <a:extLst>
              <a:ext uri="{FF2B5EF4-FFF2-40B4-BE49-F238E27FC236}">
                <a16:creationId xmlns:a16="http://schemas.microsoft.com/office/drawing/2014/main" id="{8B2068A9-5CAF-7A99-B180-37F9B29584D6}"/>
              </a:ext>
            </a:extLst>
          </p:cNvPr>
          <p:cNvSpPr/>
          <p:nvPr/>
        </p:nvSpPr>
        <p:spPr>
          <a:xfrm>
            <a:off x="457200" y="3090672"/>
            <a:ext cx="6492240" cy="1051560"/>
          </a:xfrm>
          <a:prstGeom prst="roundRect">
            <a:avLst>
              <a:gd name="adj" fmla="val 6957"/>
            </a:avLst>
          </a:prstGeom>
          <a:solidFill>
            <a:srgbClr val="142B45"/>
          </a:solidFill>
          <a:ln/>
        </p:spPr>
        <p:txBody>
          <a:bodyPr/>
          <a:lstStyle/>
          <a:p>
            <a:endParaRPr lang="en-IN"/>
          </a:p>
        </p:txBody>
      </p:sp>
      <p:pic>
        <p:nvPicPr>
          <p:cNvPr id="42" name="Image 1" descr="/home/claude/icons/mesh.png">
            <a:extLst>
              <a:ext uri="{FF2B5EF4-FFF2-40B4-BE49-F238E27FC236}">
                <a16:creationId xmlns:a16="http://schemas.microsoft.com/office/drawing/2014/main" id="{D850DAD8-68C3-778A-ED30-DEDE44DE2798}"/>
              </a:ext>
            </a:extLst>
          </p:cNvPr>
          <p:cNvPicPr>
            <a:picLocks noChangeAspect="1"/>
          </p:cNvPicPr>
          <p:nvPr/>
        </p:nvPicPr>
        <p:blipFill>
          <a:blip r:embed="rId4"/>
          <a:stretch>
            <a:fillRect/>
          </a:stretch>
        </p:blipFill>
        <p:spPr>
          <a:xfrm>
            <a:off x="658368" y="3346704"/>
            <a:ext cx="457200" cy="457200"/>
          </a:xfrm>
          <a:prstGeom prst="rect">
            <a:avLst/>
          </a:prstGeom>
        </p:spPr>
      </p:pic>
      <p:sp>
        <p:nvSpPr>
          <p:cNvPr id="44" name="Text 8">
            <a:extLst>
              <a:ext uri="{FF2B5EF4-FFF2-40B4-BE49-F238E27FC236}">
                <a16:creationId xmlns:a16="http://schemas.microsoft.com/office/drawing/2014/main" id="{A3693CA0-D92C-271C-4238-AF995E2FB044}"/>
              </a:ext>
            </a:extLst>
          </p:cNvPr>
          <p:cNvSpPr/>
          <p:nvPr/>
        </p:nvSpPr>
        <p:spPr>
          <a:xfrm>
            <a:off x="1280160" y="3218688"/>
            <a:ext cx="5029200"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Layer 2 — V2V / V2I Mesh</a:t>
            </a:r>
            <a:endParaRPr lang="en-US" sz="1500" dirty="0"/>
          </a:p>
        </p:txBody>
      </p:sp>
      <p:sp>
        <p:nvSpPr>
          <p:cNvPr id="46" name="Text 9">
            <a:extLst>
              <a:ext uri="{FF2B5EF4-FFF2-40B4-BE49-F238E27FC236}">
                <a16:creationId xmlns:a16="http://schemas.microsoft.com/office/drawing/2014/main" id="{AD6C8EC0-6E50-3854-FCB6-C4693F4D7BCB}"/>
              </a:ext>
            </a:extLst>
          </p:cNvPr>
          <p:cNvSpPr/>
          <p:nvPr/>
        </p:nvSpPr>
        <p:spPr>
          <a:xfrm>
            <a:off x="1280160" y="3566160"/>
            <a:ext cx="5029200" cy="457200"/>
          </a:xfrm>
          <a:prstGeom prst="rect">
            <a:avLst/>
          </a:prstGeom>
          <a:noFill/>
          <a:ln/>
        </p:spPr>
        <p:txBody>
          <a:bodyPr wrap="square" lIns="0" tIns="0" rIns="0" bIns="0" rtlCol="0" anchor="ctr"/>
          <a:lstStyle/>
          <a:p>
            <a:pPr marL="0" indent="0">
              <a:lnSpc>
                <a:spcPts val="1300"/>
              </a:lnSpc>
              <a:buNone/>
            </a:pPr>
            <a:r>
              <a:rPr lang="en-US" sz="1300" dirty="0">
                <a:solidFill>
                  <a:srgbClr val="C7D2DE"/>
                </a:solidFill>
                <a:latin typeface="Arial" pitchFamily="34" charset="0"/>
                <a:ea typeface="Arial" pitchFamily="34" charset="-122"/>
                <a:cs typeface="Arial" pitchFamily="34" charset="-120"/>
              </a:rPr>
              <a:t>V2V comms · Infrastructure broadcast · Delay &amp; loss aware</a:t>
            </a:r>
            <a:endParaRPr lang="en-US" sz="1300" dirty="0"/>
          </a:p>
        </p:txBody>
      </p:sp>
      <p:sp>
        <p:nvSpPr>
          <p:cNvPr id="50" name="Shape 11">
            <a:extLst>
              <a:ext uri="{FF2B5EF4-FFF2-40B4-BE49-F238E27FC236}">
                <a16:creationId xmlns:a16="http://schemas.microsoft.com/office/drawing/2014/main" id="{D4CA9B15-496C-AC2C-0FF8-A3434F986ABF}"/>
              </a:ext>
            </a:extLst>
          </p:cNvPr>
          <p:cNvSpPr/>
          <p:nvPr/>
        </p:nvSpPr>
        <p:spPr>
          <a:xfrm>
            <a:off x="457200" y="4306824"/>
            <a:ext cx="6492240" cy="1051560"/>
          </a:xfrm>
          <a:prstGeom prst="roundRect">
            <a:avLst>
              <a:gd name="adj" fmla="val 6957"/>
            </a:avLst>
          </a:prstGeom>
          <a:solidFill>
            <a:srgbClr val="142B45"/>
          </a:solidFill>
          <a:ln/>
        </p:spPr>
        <p:txBody>
          <a:bodyPr/>
          <a:lstStyle/>
          <a:p>
            <a:endParaRPr lang="en-IN"/>
          </a:p>
        </p:txBody>
      </p:sp>
      <p:pic>
        <p:nvPicPr>
          <p:cNvPr id="52" name="Image 2" descr="/home/claude/icons/dashboard.png">
            <a:extLst>
              <a:ext uri="{FF2B5EF4-FFF2-40B4-BE49-F238E27FC236}">
                <a16:creationId xmlns:a16="http://schemas.microsoft.com/office/drawing/2014/main" id="{51F354E5-F976-9FE6-4A15-799759A60B8B}"/>
              </a:ext>
            </a:extLst>
          </p:cNvPr>
          <p:cNvPicPr>
            <a:picLocks noChangeAspect="1"/>
          </p:cNvPicPr>
          <p:nvPr/>
        </p:nvPicPr>
        <p:blipFill>
          <a:blip r:embed="rId5"/>
          <a:stretch>
            <a:fillRect/>
          </a:stretch>
        </p:blipFill>
        <p:spPr>
          <a:xfrm>
            <a:off x="658368" y="4562856"/>
            <a:ext cx="457200" cy="457200"/>
          </a:xfrm>
          <a:prstGeom prst="rect">
            <a:avLst/>
          </a:prstGeom>
        </p:spPr>
      </p:pic>
      <p:sp>
        <p:nvSpPr>
          <p:cNvPr id="54" name="Text 12">
            <a:extLst>
              <a:ext uri="{FF2B5EF4-FFF2-40B4-BE49-F238E27FC236}">
                <a16:creationId xmlns:a16="http://schemas.microsoft.com/office/drawing/2014/main" id="{EF62D0E0-66DB-0476-9B93-F3D0D76936AD}"/>
              </a:ext>
            </a:extLst>
          </p:cNvPr>
          <p:cNvSpPr/>
          <p:nvPr/>
        </p:nvSpPr>
        <p:spPr>
          <a:xfrm>
            <a:off x="1280160" y="4434840"/>
            <a:ext cx="5029200" cy="32004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Layer 3 — Command &amp; Control</a:t>
            </a:r>
            <a:endParaRPr lang="en-US" sz="1500" dirty="0"/>
          </a:p>
        </p:txBody>
      </p:sp>
      <p:sp>
        <p:nvSpPr>
          <p:cNvPr id="56" name="Text 13">
            <a:extLst>
              <a:ext uri="{FF2B5EF4-FFF2-40B4-BE49-F238E27FC236}">
                <a16:creationId xmlns:a16="http://schemas.microsoft.com/office/drawing/2014/main" id="{B908B9E3-C73B-AE27-8300-D98A998805F6}"/>
              </a:ext>
            </a:extLst>
          </p:cNvPr>
          <p:cNvSpPr/>
          <p:nvPr/>
        </p:nvSpPr>
        <p:spPr>
          <a:xfrm>
            <a:off x="1280160" y="4782312"/>
            <a:ext cx="5029200" cy="457200"/>
          </a:xfrm>
          <a:prstGeom prst="rect">
            <a:avLst/>
          </a:prstGeom>
          <a:noFill/>
          <a:ln/>
        </p:spPr>
        <p:txBody>
          <a:bodyPr wrap="square" lIns="0" tIns="0" rIns="0" bIns="0" rtlCol="0" anchor="ctr"/>
          <a:lstStyle/>
          <a:p>
            <a:pPr marL="0" indent="0">
              <a:lnSpc>
                <a:spcPts val="1300"/>
              </a:lnSpc>
              <a:buNone/>
            </a:pPr>
            <a:r>
              <a:rPr lang="en-US" sz="1300" dirty="0">
                <a:solidFill>
                  <a:srgbClr val="C7D2DE"/>
                </a:solidFill>
                <a:latin typeface="Arial" pitchFamily="34" charset="0"/>
                <a:ea typeface="Arial" pitchFamily="34" charset="-122"/>
                <a:cs typeface="Arial" pitchFamily="34" charset="-120"/>
              </a:rPr>
              <a:t>Control room dashboard · Digital twin · Site-wide oversight</a:t>
            </a:r>
            <a:endParaRPr lang="en-US" sz="1300" dirty="0"/>
          </a:p>
        </p:txBody>
      </p:sp>
      <p:sp>
        <p:nvSpPr>
          <p:cNvPr id="58" name="Shape 14">
            <a:extLst>
              <a:ext uri="{FF2B5EF4-FFF2-40B4-BE49-F238E27FC236}">
                <a16:creationId xmlns:a16="http://schemas.microsoft.com/office/drawing/2014/main" id="{ED2851E0-CFDA-CDB0-8E5D-482D595635A6}"/>
              </a:ext>
            </a:extLst>
          </p:cNvPr>
          <p:cNvSpPr/>
          <p:nvPr/>
        </p:nvSpPr>
        <p:spPr>
          <a:xfrm>
            <a:off x="457200" y="5568696"/>
            <a:ext cx="1417320" cy="754466"/>
          </a:xfrm>
          <a:prstGeom prst="roundRect">
            <a:avLst>
              <a:gd name="adj" fmla="val 9231"/>
            </a:avLst>
          </a:prstGeom>
          <a:solidFill>
            <a:srgbClr val="F5A623"/>
          </a:solidFill>
          <a:ln/>
        </p:spPr>
        <p:txBody>
          <a:bodyPr/>
          <a:lstStyle/>
          <a:p>
            <a:endParaRPr lang="en-IN"/>
          </a:p>
        </p:txBody>
      </p:sp>
      <p:sp>
        <p:nvSpPr>
          <p:cNvPr id="60" name="Text 15">
            <a:extLst>
              <a:ext uri="{FF2B5EF4-FFF2-40B4-BE49-F238E27FC236}">
                <a16:creationId xmlns:a16="http://schemas.microsoft.com/office/drawing/2014/main" id="{EB3EF299-F1FF-182A-B3D4-CE46277C95E2}"/>
              </a:ext>
            </a:extLst>
          </p:cNvPr>
          <p:cNvSpPr/>
          <p:nvPr/>
        </p:nvSpPr>
        <p:spPr>
          <a:xfrm>
            <a:off x="530352" y="5568696"/>
            <a:ext cx="1271016" cy="594360"/>
          </a:xfrm>
          <a:prstGeom prst="rect">
            <a:avLst/>
          </a:prstGeom>
          <a:noFill/>
          <a:ln/>
        </p:spPr>
        <p:txBody>
          <a:bodyPr wrap="square" lIns="0" tIns="0" rIns="0" bIns="0" rtlCol="0" anchor="ctr"/>
          <a:lstStyle/>
          <a:p>
            <a:pPr marL="0" indent="0" algn="ctr">
              <a:buNone/>
            </a:pPr>
            <a:r>
              <a:rPr lang="en-US" sz="1200" b="1" dirty="0">
                <a:solidFill>
                  <a:srgbClr val="0B1B2E"/>
                </a:solidFill>
                <a:latin typeface="Arial" pitchFamily="34" charset="0"/>
                <a:ea typeface="Arial" pitchFamily="34" charset="-122"/>
                <a:cs typeface="Arial" pitchFamily="34" charset="-120"/>
              </a:rPr>
              <a:t>Real-time</a:t>
            </a:r>
          </a:p>
          <a:p>
            <a:pPr marL="0" indent="0" algn="ctr">
              <a:buNone/>
            </a:pPr>
            <a:r>
              <a:rPr lang="en-US" sz="1200" b="1" dirty="0">
                <a:solidFill>
                  <a:srgbClr val="0B1B2E"/>
                </a:solidFill>
                <a:latin typeface="Arial" pitchFamily="34" charset="0"/>
                <a:ea typeface="Arial" pitchFamily="34" charset="-122"/>
                <a:cs typeface="Arial" pitchFamily="34" charset="-120"/>
              </a:rPr>
              <a:t> fog detection</a:t>
            </a:r>
            <a:endParaRPr lang="en-US" sz="1200" dirty="0"/>
          </a:p>
        </p:txBody>
      </p:sp>
      <p:sp>
        <p:nvSpPr>
          <p:cNvPr id="62" name="Shape 16">
            <a:extLst>
              <a:ext uri="{FF2B5EF4-FFF2-40B4-BE49-F238E27FC236}">
                <a16:creationId xmlns:a16="http://schemas.microsoft.com/office/drawing/2014/main" id="{DC4FC733-551B-22CE-9E32-EE5B01BBD689}"/>
              </a:ext>
            </a:extLst>
          </p:cNvPr>
          <p:cNvSpPr/>
          <p:nvPr/>
        </p:nvSpPr>
        <p:spPr>
          <a:xfrm>
            <a:off x="2148840" y="5568696"/>
            <a:ext cx="1417320" cy="754466"/>
          </a:xfrm>
          <a:prstGeom prst="roundRect">
            <a:avLst>
              <a:gd name="adj" fmla="val 9231"/>
            </a:avLst>
          </a:prstGeom>
          <a:solidFill>
            <a:srgbClr val="F5A623"/>
          </a:solidFill>
          <a:ln/>
        </p:spPr>
        <p:txBody>
          <a:bodyPr/>
          <a:lstStyle/>
          <a:p>
            <a:endParaRPr lang="en-IN"/>
          </a:p>
        </p:txBody>
      </p:sp>
      <p:sp>
        <p:nvSpPr>
          <p:cNvPr id="64" name="Text 17">
            <a:extLst>
              <a:ext uri="{FF2B5EF4-FFF2-40B4-BE49-F238E27FC236}">
                <a16:creationId xmlns:a16="http://schemas.microsoft.com/office/drawing/2014/main" id="{2F160569-2D05-086A-BA03-B69050B095E2}"/>
              </a:ext>
            </a:extLst>
          </p:cNvPr>
          <p:cNvSpPr/>
          <p:nvPr/>
        </p:nvSpPr>
        <p:spPr>
          <a:xfrm>
            <a:off x="2221992" y="5568696"/>
            <a:ext cx="1271016" cy="594360"/>
          </a:xfrm>
          <a:prstGeom prst="rect">
            <a:avLst/>
          </a:prstGeom>
          <a:noFill/>
          <a:ln/>
        </p:spPr>
        <p:txBody>
          <a:bodyPr wrap="square" lIns="0" tIns="0" rIns="0" bIns="0" rtlCol="0" anchor="ctr"/>
          <a:lstStyle/>
          <a:p>
            <a:pPr marL="0" indent="0" algn="ctr">
              <a:buNone/>
            </a:pPr>
            <a:r>
              <a:rPr lang="en-US" sz="1200" b="1" dirty="0">
                <a:solidFill>
                  <a:srgbClr val="0B1B2E"/>
                </a:solidFill>
                <a:latin typeface="Arial" pitchFamily="34" charset="0"/>
                <a:ea typeface="Arial" pitchFamily="34" charset="-122"/>
                <a:cs typeface="Arial" pitchFamily="34" charset="-120"/>
              </a:rPr>
              <a:t>Sub-meter </a:t>
            </a:r>
          </a:p>
          <a:p>
            <a:pPr marL="0" indent="0" algn="ctr">
              <a:buNone/>
            </a:pPr>
            <a:r>
              <a:rPr lang="en-US" sz="1200" b="1" dirty="0">
                <a:solidFill>
                  <a:srgbClr val="0B1B2E"/>
                </a:solidFill>
                <a:latin typeface="Arial" pitchFamily="34" charset="0"/>
                <a:ea typeface="Arial" pitchFamily="34" charset="-122"/>
                <a:cs typeface="Arial" pitchFamily="34" charset="-120"/>
              </a:rPr>
              <a:t>positioning</a:t>
            </a:r>
            <a:endParaRPr lang="en-US" sz="1200" dirty="0"/>
          </a:p>
        </p:txBody>
      </p:sp>
      <p:sp>
        <p:nvSpPr>
          <p:cNvPr id="66" name="Shape 18">
            <a:extLst>
              <a:ext uri="{FF2B5EF4-FFF2-40B4-BE49-F238E27FC236}">
                <a16:creationId xmlns:a16="http://schemas.microsoft.com/office/drawing/2014/main" id="{5EEFC28E-2F75-BB74-430F-3ABC36DD0736}"/>
              </a:ext>
            </a:extLst>
          </p:cNvPr>
          <p:cNvSpPr/>
          <p:nvPr/>
        </p:nvSpPr>
        <p:spPr>
          <a:xfrm>
            <a:off x="3840480" y="5568696"/>
            <a:ext cx="1417320" cy="754466"/>
          </a:xfrm>
          <a:prstGeom prst="roundRect">
            <a:avLst>
              <a:gd name="adj" fmla="val 9231"/>
            </a:avLst>
          </a:prstGeom>
          <a:solidFill>
            <a:srgbClr val="F5A623"/>
          </a:solidFill>
          <a:ln/>
        </p:spPr>
        <p:txBody>
          <a:bodyPr/>
          <a:lstStyle/>
          <a:p>
            <a:endParaRPr lang="en-IN"/>
          </a:p>
        </p:txBody>
      </p:sp>
      <p:sp>
        <p:nvSpPr>
          <p:cNvPr id="68" name="Text 19">
            <a:extLst>
              <a:ext uri="{FF2B5EF4-FFF2-40B4-BE49-F238E27FC236}">
                <a16:creationId xmlns:a16="http://schemas.microsoft.com/office/drawing/2014/main" id="{C21D20CE-09ED-7838-7B18-31ED274D87CC}"/>
              </a:ext>
            </a:extLst>
          </p:cNvPr>
          <p:cNvSpPr/>
          <p:nvPr/>
        </p:nvSpPr>
        <p:spPr>
          <a:xfrm>
            <a:off x="3913632" y="5568696"/>
            <a:ext cx="1271016" cy="594360"/>
          </a:xfrm>
          <a:prstGeom prst="rect">
            <a:avLst/>
          </a:prstGeom>
          <a:noFill/>
          <a:ln/>
        </p:spPr>
        <p:txBody>
          <a:bodyPr wrap="square" lIns="0" tIns="0" rIns="0" bIns="0" rtlCol="0" anchor="ctr"/>
          <a:lstStyle/>
          <a:p>
            <a:pPr marL="0" indent="0" algn="ctr">
              <a:buNone/>
            </a:pPr>
            <a:r>
              <a:rPr lang="en-US" sz="1200" b="1" dirty="0">
                <a:solidFill>
                  <a:srgbClr val="0B1B2E"/>
                </a:solidFill>
                <a:latin typeface="Arial" pitchFamily="34" charset="0"/>
                <a:ea typeface="Arial" pitchFamily="34" charset="-122"/>
                <a:cs typeface="Arial" pitchFamily="34" charset="-120"/>
              </a:rPr>
              <a:t>Mesh &lt; 50 ms</a:t>
            </a:r>
            <a:endParaRPr lang="en-US" sz="1200" dirty="0"/>
          </a:p>
        </p:txBody>
      </p:sp>
      <p:sp>
        <p:nvSpPr>
          <p:cNvPr id="70" name="Shape 20">
            <a:extLst>
              <a:ext uri="{FF2B5EF4-FFF2-40B4-BE49-F238E27FC236}">
                <a16:creationId xmlns:a16="http://schemas.microsoft.com/office/drawing/2014/main" id="{17B92329-DE1A-210F-C281-59239004BA51}"/>
              </a:ext>
            </a:extLst>
          </p:cNvPr>
          <p:cNvSpPr/>
          <p:nvPr/>
        </p:nvSpPr>
        <p:spPr>
          <a:xfrm>
            <a:off x="5532120" y="5568695"/>
            <a:ext cx="1417320" cy="754465"/>
          </a:xfrm>
          <a:prstGeom prst="roundRect">
            <a:avLst>
              <a:gd name="adj" fmla="val 9231"/>
            </a:avLst>
          </a:prstGeom>
          <a:solidFill>
            <a:srgbClr val="F5A623"/>
          </a:solidFill>
          <a:ln/>
        </p:spPr>
        <p:txBody>
          <a:bodyPr/>
          <a:lstStyle/>
          <a:p>
            <a:endParaRPr lang="en-IN"/>
          </a:p>
        </p:txBody>
      </p:sp>
      <p:sp>
        <p:nvSpPr>
          <p:cNvPr id="72" name="Text 21">
            <a:extLst>
              <a:ext uri="{FF2B5EF4-FFF2-40B4-BE49-F238E27FC236}">
                <a16:creationId xmlns:a16="http://schemas.microsoft.com/office/drawing/2014/main" id="{4256B269-9AAA-C08E-D529-42927C19DBA8}"/>
              </a:ext>
            </a:extLst>
          </p:cNvPr>
          <p:cNvSpPr/>
          <p:nvPr/>
        </p:nvSpPr>
        <p:spPr>
          <a:xfrm>
            <a:off x="5605272" y="5568696"/>
            <a:ext cx="1271016" cy="594360"/>
          </a:xfrm>
          <a:prstGeom prst="rect">
            <a:avLst/>
          </a:prstGeom>
          <a:noFill/>
          <a:ln/>
        </p:spPr>
        <p:txBody>
          <a:bodyPr wrap="square" lIns="0" tIns="0" rIns="0" bIns="0" rtlCol="0" anchor="ctr"/>
          <a:lstStyle/>
          <a:p>
            <a:pPr marL="0" indent="0" algn="ctr">
              <a:buNone/>
            </a:pPr>
            <a:r>
              <a:rPr lang="en-US" sz="1200" b="1" dirty="0">
                <a:solidFill>
                  <a:srgbClr val="0B1B2E"/>
                </a:solidFill>
                <a:latin typeface="Arial" pitchFamily="34" charset="0"/>
                <a:ea typeface="Arial" pitchFamily="34" charset="-122"/>
                <a:cs typeface="Arial" pitchFamily="34" charset="-120"/>
              </a:rPr>
              <a:t>Full digital twin</a:t>
            </a:r>
            <a:endParaRPr lang="en-US" sz="1200" dirty="0"/>
          </a:p>
        </p:txBody>
      </p:sp>
      <p:sp>
        <p:nvSpPr>
          <p:cNvPr id="82" name="Text 25">
            <a:extLst>
              <a:ext uri="{FF2B5EF4-FFF2-40B4-BE49-F238E27FC236}">
                <a16:creationId xmlns:a16="http://schemas.microsoft.com/office/drawing/2014/main" id="{1501E3F5-275E-8F17-5608-8AE93F1A951E}"/>
              </a:ext>
            </a:extLst>
          </p:cNvPr>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84" name="Text 26">
            <a:extLst>
              <a:ext uri="{FF2B5EF4-FFF2-40B4-BE49-F238E27FC236}">
                <a16:creationId xmlns:a16="http://schemas.microsoft.com/office/drawing/2014/main" id="{139BD5F6-E5E1-B94A-A0AE-053B878B5870}"/>
              </a:ext>
            </a:extLst>
          </p:cNvPr>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5</a:t>
            </a:r>
            <a:endParaRPr lang="en-US" sz="900" dirty="0"/>
          </a:p>
        </p:txBody>
      </p:sp>
      <p:sp>
        <p:nvSpPr>
          <p:cNvPr id="86" name="Rectangle 85"/>
          <p:cNvSpPr/>
          <p:nvPr/>
        </p:nvSpPr>
        <p:spPr>
          <a:xfrm>
            <a:off x="7388352" y="1572768"/>
            <a:ext cx="4187952" cy="1234440"/>
          </a:xfrm>
          <a:prstGeom prst="rect">
            <a:avLst/>
          </a:prstGeom>
          <a:solidFill>
            <a:srgbClr val="E1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7" name="Picture 86" descr="roof_sensor.jpg"/>
          <p:cNvPicPr>
            <a:picLocks noChangeAspect="1"/>
          </p:cNvPicPr>
          <p:nvPr/>
        </p:nvPicPr>
        <p:blipFill>
          <a:blip r:embed="rId6"/>
          <a:stretch>
            <a:fillRect/>
          </a:stretch>
        </p:blipFill>
        <p:spPr>
          <a:xfrm>
            <a:off x="7279877" y="1554479"/>
            <a:ext cx="4595038" cy="1325881"/>
          </a:xfrm>
          <a:prstGeom prst="rect">
            <a:avLst/>
          </a:prstGeom>
        </p:spPr>
      </p:pic>
      <p:sp>
        <p:nvSpPr>
          <p:cNvPr id="88" name="Rounded Rectangle 87"/>
          <p:cNvSpPr/>
          <p:nvPr/>
        </p:nvSpPr>
        <p:spPr>
          <a:xfrm>
            <a:off x="7543800" y="2532888"/>
            <a:ext cx="2057400" cy="237744"/>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5A623"/>
                </a:solidFill>
                <a:latin typeface="Aptos"/>
              </a:rPr>
              <a:t>ON-VEHICLE SENSING</a:t>
            </a:r>
          </a:p>
        </p:txBody>
      </p:sp>
      <p:sp>
        <p:nvSpPr>
          <p:cNvPr id="89" name="Rectangle 88"/>
          <p:cNvSpPr/>
          <p:nvPr/>
        </p:nvSpPr>
        <p:spPr>
          <a:xfrm>
            <a:off x="7388352" y="2999232"/>
            <a:ext cx="4187952" cy="1234440"/>
          </a:xfrm>
          <a:prstGeom prst="rect">
            <a:avLst/>
          </a:prstGeom>
          <a:solidFill>
            <a:srgbClr val="E1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0" name="Picture 89" descr="fleet_arrival.jpg"/>
          <p:cNvPicPr>
            <a:picLocks noChangeAspect="1"/>
          </p:cNvPicPr>
          <p:nvPr/>
        </p:nvPicPr>
        <p:blipFill>
          <a:blip r:embed="rId7"/>
          <a:stretch>
            <a:fillRect/>
          </a:stretch>
        </p:blipFill>
        <p:spPr>
          <a:xfrm>
            <a:off x="7279877" y="2980943"/>
            <a:ext cx="4595038" cy="1325881"/>
          </a:xfrm>
          <a:prstGeom prst="rect">
            <a:avLst/>
          </a:prstGeom>
        </p:spPr>
      </p:pic>
      <p:sp>
        <p:nvSpPr>
          <p:cNvPr id="91" name="Rounded Rectangle 90"/>
          <p:cNvSpPr/>
          <p:nvPr/>
        </p:nvSpPr>
        <p:spPr>
          <a:xfrm>
            <a:off x="7543800" y="3959352"/>
            <a:ext cx="2057400" cy="237744"/>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5A623"/>
                </a:solidFill>
                <a:latin typeface="Aptos"/>
              </a:rPr>
              <a:t>V2V / V2I MESH</a:t>
            </a:r>
          </a:p>
        </p:txBody>
      </p:sp>
      <p:sp>
        <p:nvSpPr>
          <p:cNvPr id="92" name="Rectangle 91"/>
          <p:cNvSpPr/>
          <p:nvPr/>
        </p:nvSpPr>
        <p:spPr>
          <a:xfrm>
            <a:off x="7388352" y="4425696"/>
            <a:ext cx="4187952" cy="1234440"/>
          </a:xfrm>
          <a:prstGeom prst="rect">
            <a:avLst/>
          </a:prstGeom>
          <a:solidFill>
            <a:srgbClr val="E1E7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3" name="Picture 92" descr="mine_operations.jpg"/>
          <p:cNvPicPr>
            <a:picLocks noChangeAspect="1"/>
          </p:cNvPicPr>
          <p:nvPr/>
        </p:nvPicPr>
        <p:blipFill>
          <a:blip r:embed="rId8"/>
          <a:stretch>
            <a:fillRect/>
          </a:stretch>
        </p:blipFill>
        <p:spPr>
          <a:xfrm>
            <a:off x="7279877" y="4407406"/>
            <a:ext cx="4606402" cy="1329160"/>
          </a:xfrm>
          <a:prstGeom prst="rect">
            <a:avLst/>
          </a:prstGeom>
        </p:spPr>
      </p:pic>
      <p:sp>
        <p:nvSpPr>
          <p:cNvPr id="94" name="Rounded Rectangle 93"/>
          <p:cNvSpPr/>
          <p:nvPr/>
        </p:nvSpPr>
        <p:spPr>
          <a:xfrm>
            <a:off x="7543800" y="5385816"/>
            <a:ext cx="2057400" cy="237744"/>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5A623"/>
                </a:solidFill>
                <a:latin typeface="Aptos"/>
              </a:rPr>
              <a:t>COMMAND &amp; CONTROL</a:t>
            </a:r>
          </a:p>
        </p:txBody>
      </p:sp>
    </p:spTree>
    <p:extLst>
      <p:ext uri="{BB962C8B-B14F-4D97-AF65-F5344CB8AC3E}">
        <p14:creationId xmlns:p14="http://schemas.microsoft.com/office/powerpoint/2010/main" val="2367804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a:extLst>
            <a:ext uri="{FF2B5EF4-FFF2-40B4-BE49-F238E27FC236}">
              <a16:creationId xmlns:a16="http://schemas.microsoft.com/office/drawing/2014/main" id="{FD5F315B-6EA7-B33F-AD03-2BBDB6829333}"/>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518DBD7-5143-B91E-1404-68315A28C40B}"/>
              </a:ext>
            </a:extLst>
          </p:cNvPr>
          <p:cNvSpPr/>
          <p:nvPr/>
        </p:nvSpPr>
        <p:spPr>
          <a:xfrm>
            <a:off x="457200" y="228600"/>
            <a:ext cx="3657600" cy="274320"/>
          </a:xfrm>
          <a:prstGeom prst="rect">
            <a:avLst/>
          </a:prstGeom>
          <a:noFill/>
          <a:ln/>
        </p:spPr>
        <p:txBody>
          <a:bodyPr wrap="square" lIns="0" tIns="0" rIns="0" bIns="0" rtlCol="0" anchor="ctr"/>
          <a:lstStyle/>
          <a:p>
            <a:pPr marL="0" indent="0">
              <a:buNone/>
            </a:pPr>
            <a:r>
              <a:rPr lang="en-US" sz="1400" b="1" kern="0" spc="200" dirty="0">
                <a:solidFill>
                  <a:srgbClr val="F5A623"/>
                </a:solidFill>
                <a:latin typeface="Arial" pitchFamily="34" charset="0"/>
                <a:ea typeface="Arial" pitchFamily="34" charset="-122"/>
                <a:cs typeface="Arial" pitchFamily="34" charset="-120"/>
              </a:rPr>
              <a:t>HARDWARE &amp; FEASIBILITY</a:t>
            </a:r>
            <a:endParaRPr lang="en-US" sz="1400" dirty="0"/>
          </a:p>
        </p:txBody>
      </p:sp>
      <p:sp>
        <p:nvSpPr>
          <p:cNvPr id="5" name="Text 1">
            <a:extLst>
              <a:ext uri="{FF2B5EF4-FFF2-40B4-BE49-F238E27FC236}">
                <a16:creationId xmlns:a16="http://schemas.microsoft.com/office/drawing/2014/main" id="{933C77F1-81B7-E93F-3080-E09BD771CEBC}"/>
              </a:ext>
            </a:extLst>
          </p:cNvPr>
          <p:cNvSpPr/>
          <p:nvPr/>
        </p:nvSpPr>
        <p:spPr>
          <a:xfrm>
            <a:off x="411480" y="461772"/>
            <a:ext cx="11247120" cy="54864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Built Lean. Engineered Safe.</a:t>
            </a:r>
            <a:endParaRPr lang="en-US" sz="2800" dirty="0"/>
          </a:p>
        </p:txBody>
      </p:sp>
      <p:sp>
        <p:nvSpPr>
          <p:cNvPr id="11" name="Text 3">
            <a:extLst>
              <a:ext uri="{FF2B5EF4-FFF2-40B4-BE49-F238E27FC236}">
                <a16:creationId xmlns:a16="http://schemas.microsoft.com/office/drawing/2014/main" id="{FF45052D-CF8B-3FA7-4138-75E7807B371B}"/>
              </a:ext>
            </a:extLst>
          </p:cNvPr>
          <p:cNvSpPr/>
          <p:nvPr/>
        </p:nvSpPr>
        <p:spPr>
          <a:xfrm>
            <a:off x="640080" y="3954780"/>
            <a:ext cx="5303520" cy="274320"/>
          </a:xfrm>
          <a:prstGeom prst="rect">
            <a:avLst/>
          </a:prstGeom>
          <a:noFill/>
          <a:ln/>
        </p:spPr>
        <p:txBody>
          <a:bodyPr wrap="square" lIns="0" tIns="0" rIns="0" bIns="0" rtlCol="0" anchor="ctr"/>
          <a:lstStyle/>
          <a:p>
            <a:pPr marL="0" indent="0" algn="ctr">
              <a:buNone/>
            </a:pPr>
            <a:endParaRPr lang="en-US" sz="950" i="1" dirty="0">
              <a:solidFill>
                <a:srgbClr val="8FA0B3"/>
              </a:solidFill>
              <a:latin typeface="Arial" pitchFamily="34" charset="0"/>
              <a:cs typeface="Arial" pitchFamily="34" charset="-120"/>
            </a:endParaRPr>
          </a:p>
        </p:txBody>
      </p:sp>
      <p:sp>
        <p:nvSpPr>
          <p:cNvPr id="15" name="Text 5">
            <a:extLst>
              <a:ext uri="{FF2B5EF4-FFF2-40B4-BE49-F238E27FC236}">
                <a16:creationId xmlns:a16="http://schemas.microsoft.com/office/drawing/2014/main" id="{86933871-3AA4-AF5D-99A1-AB09C8735362}"/>
              </a:ext>
            </a:extLst>
          </p:cNvPr>
          <p:cNvSpPr/>
          <p:nvPr/>
        </p:nvSpPr>
        <p:spPr>
          <a:xfrm>
            <a:off x="6327648" y="1134783"/>
            <a:ext cx="5303520" cy="274320"/>
          </a:xfrm>
          <a:prstGeom prst="rect">
            <a:avLst/>
          </a:prstGeom>
          <a:noFill/>
          <a:ln/>
        </p:spPr>
        <p:txBody>
          <a:bodyPr wrap="square" lIns="0" tIns="0" rIns="0" bIns="0" rtlCol="0" anchor="ctr"/>
          <a:lstStyle/>
          <a:p>
            <a:pPr marL="0" indent="0">
              <a:buNone/>
            </a:pPr>
            <a:r>
              <a:rPr lang="en-US" sz="1400" b="1" kern="0" spc="100" dirty="0">
                <a:solidFill>
                  <a:srgbClr val="F5A623"/>
                </a:solidFill>
                <a:latin typeface="Arial" pitchFamily="34" charset="0"/>
                <a:ea typeface="Arial" pitchFamily="34" charset="-122"/>
                <a:cs typeface="Arial" pitchFamily="34" charset="-120"/>
              </a:rPr>
              <a:t>PROTOTYPE COMPONENTS</a:t>
            </a:r>
            <a:endParaRPr lang="en-US" sz="1400" dirty="0"/>
          </a:p>
        </p:txBody>
      </p:sp>
      <p:sp>
        <p:nvSpPr>
          <p:cNvPr id="17" name="Shape 6">
            <a:extLst>
              <a:ext uri="{FF2B5EF4-FFF2-40B4-BE49-F238E27FC236}">
                <a16:creationId xmlns:a16="http://schemas.microsoft.com/office/drawing/2014/main" id="{412A6011-0C17-36CB-5228-A25936E68FAE}"/>
              </a:ext>
            </a:extLst>
          </p:cNvPr>
          <p:cNvSpPr/>
          <p:nvPr/>
        </p:nvSpPr>
        <p:spPr>
          <a:xfrm>
            <a:off x="6332220" y="1533474"/>
            <a:ext cx="2560320" cy="347472"/>
          </a:xfrm>
          <a:prstGeom prst="roundRect">
            <a:avLst>
              <a:gd name="adj" fmla="val 15789"/>
            </a:avLst>
          </a:prstGeom>
          <a:solidFill>
            <a:srgbClr val="142B45"/>
          </a:solidFill>
          <a:ln/>
        </p:spPr>
        <p:txBody>
          <a:bodyPr/>
          <a:lstStyle/>
          <a:p>
            <a:endParaRPr lang="en-IN"/>
          </a:p>
        </p:txBody>
      </p:sp>
      <p:sp>
        <p:nvSpPr>
          <p:cNvPr id="19" name="Text 7">
            <a:extLst>
              <a:ext uri="{FF2B5EF4-FFF2-40B4-BE49-F238E27FC236}">
                <a16:creationId xmlns:a16="http://schemas.microsoft.com/office/drawing/2014/main" id="{0A9B0851-FD66-44BC-4488-4F242F83F20F}"/>
              </a:ext>
            </a:extLst>
          </p:cNvPr>
          <p:cNvSpPr/>
          <p:nvPr/>
        </p:nvSpPr>
        <p:spPr>
          <a:xfrm>
            <a:off x="6423660" y="1517947"/>
            <a:ext cx="2377440"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Arduino Uno</a:t>
            </a:r>
            <a:endParaRPr lang="en-US" sz="1400" dirty="0"/>
          </a:p>
        </p:txBody>
      </p:sp>
      <p:sp>
        <p:nvSpPr>
          <p:cNvPr id="21" name="Shape 8">
            <a:extLst>
              <a:ext uri="{FF2B5EF4-FFF2-40B4-BE49-F238E27FC236}">
                <a16:creationId xmlns:a16="http://schemas.microsoft.com/office/drawing/2014/main" id="{C9B05842-5747-5B8F-2BF3-F3EFEDCFB1C4}"/>
              </a:ext>
            </a:extLst>
          </p:cNvPr>
          <p:cNvSpPr/>
          <p:nvPr/>
        </p:nvSpPr>
        <p:spPr>
          <a:xfrm>
            <a:off x="9025128" y="1530369"/>
            <a:ext cx="2560320" cy="347472"/>
          </a:xfrm>
          <a:prstGeom prst="roundRect">
            <a:avLst>
              <a:gd name="adj" fmla="val 15789"/>
            </a:avLst>
          </a:prstGeom>
          <a:solidFill>
            <a:srgbClr val="142B45"/>
          </a:solidFill>
          <a:ln/>
        </p:spPr>
        <p:txBody>
          <a:bodyPr/>
          <a:lstStyle/>
          <a:p>
            <a:endParaRPr lang="en-IN"/>
          </a:p>
        </p:txBody>
      </p:sp>
      <p:sp>
        <p:nvSpPr>
          <p:cNvPr id="23" name="Text 9">
            <a:extLst>
              <a:ext uri="{FF2B5EF4-FFF2-40B4-BE49-F238E27FC236}">
                <a16:creationId xmlns:a16="http://schemas.microsoft.com/office/drawing/2014/main" id="{8944F0B8-6F71-71B3-6247-45A163CC21AB}"/>
              </a:ext>
            </a:extLst>
          </p:cNvPr>
          <p:cNvSpPr/>
          <p:nvPr/>
        </p:nvSpPr>
        <p:spPr>
          <a:xfrm>
            <a:off x="9098280" y="1553229"/>
            <a:ext cx="2377440"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TB6612FNG motor driver</a:t>
            </a:r>
            <a:endParaRPr lang="en-US" sz="1400" dirty="0"/>
          </a:p>
        </p:txBody>
      </p:sp>
      <p:sp>
        <p:nvSpPr>
          <p:cNvPr id="27" name="Shape 10">
            <a:extLst>
              <a:ext uri="{FF2B5EF4-FFF2-40B4-BE49-F238E27FC236}">
                <a16:creationId xmlns:a16="http://schemas.microsoft.com/office/drawing/2014/main" id="{DC481AAA-2F14-73DB-99AF-E60742CC4858}"/>
              </a:ext>
            </a:extLst>
          </p:cNvPr>
          <p:cNvSpPr/>
          <p:nvPr/>
        </p:nvSpPr>
        <p:spPr>
          <a:xfrm>
            <a:off x="6309360" y="1976657"/>
            <a:ext cx="2560320" cy="347472"/>
          </a:xfrm>
          <a:prstGeom prst="roundRect">
            <a:avLst>
              <a:gd name="adj" fmla="val 15789"/>
            </a:avLst>
          </a:prstGeom>
          <a:solidFill>
            <a:srgbClr val="142B45"/>
          </a:solidFill>
          <a:ln/>
        </p:spPr>
        <p:txBody>
          <a:bodyPr/>
          <a:lstStyle/>
          <a:p>
            <a:endParaRPr lang="en-IN"/>
          </a:p>
        </p:txBody>
      </p:sp>
      <p:sp>
        <p:nvSpPr>
          <p:cNvPr id="31" name="Text 11">
            <a:extLst>
              <a:ext uri="{FF2B5EF4-FFF2-40B4-BE49-F238E27FC236}">
                <a16:creationId xmlns:a16="http://schemas.microsoft.com/office/drawing/2014/main" id="{D3E58ACE-6C60-4996-8696-1B9E980D2AE5}"/>
              </a:ext>
            </a:extLst>
          </p:cNvPr>
          <p:cNvSpPr/>
          <p:nvPr/>
        </p:nvSpPr>
        <p:spPr>
          <a:xfrm>
            <a:off x="6423660" y="1965960"/>
            <a:ext cx="2377440"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HC-SR04 ultrasonic</a:t>
            </a:r>
            <a:endParaRPr lang="en-US" sz="1400" dirty="0"/>
          </a:p>
        </p:txBody>
      </p:sp>
      <p:sp>
        <p:nvSpPr>
          <p:cNvPr id="35" name="Shape 12">
            <a:extLst>
              <a:ext uri="{FF2B5EF4-FFF2-40B4-BE49-F238E27FC236}">
                <a16:creationId xmlns:a16="http://schemas.microsoft.com/office/drawing/2014/main" id="{5C156A6D-43EF-E297-343A-C88129D028DE}"/>
              </a:ext>
            </a:extLst>
          </p:cNvPr>
          <p:cNvSpPr/>
          <p:nvPr/>
        </p:nvSpPr>
        <p:spPr>
          <a:xfrm>
            <a:off x="9052560" y="1995482"/>
            <a:ext cx="2560320" cy="347472"/>
          </a:xfrm>
          <a:prstGeom prst="roundRect">
            <a:avLst>
              <a:gd name="adj" fmla="val 15789"/>
            </a:avLst>
          </a:prstGeom>
          <a:solidFill>
            <a:srgbClr val="142B45"/>
          </a:solidFill>
          <a:ln/>
        </p:spPr>
        <p:txBody>
          <a:bodyPr/>
          <a:lstStyle/>
          <a:p>
            <a:endParaRPr lang="en-IN"/>
          </a:p>
        </p:txBody>
      </p:sp>
      <p:sp>
        <p:nvSpPr>
          <p:cNvPr id="39" name="Text 13">
            <a:extLst>
              <a:ext uri="{FF2B5EF4-FFF2-40B4-BE49-F238E27FC236}">
                <a16:creationId xmlns:a16="http://schemas.microsoft.com/office/drawing/2014/main" id="{AD7ABB1B-20E8-4288-7E9E-C8561E80D0DF}"/>
              </a:ext>
            </a:extLst>
          </p:cNvPr>
          <p:cNvSpPr/>
          <p:nvPr/>
        </p:nvSpPr>
        <p:spPr>
          <a:xfrm>
            <a:off x="9116568" y="1976657"/>
            <a:ext cx="2377440"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MPU6050 IMU</a:t>
            </a:r>
            <a:endParaRPr lang="en-US" sz="1400" dirty="0"/>
          </a:p>
        </p:txBody>
      </p:sp>
      <p:sp>
        <p:nvSpPr>
          <p:cNvPr id="43" name="Shape 14">
            <a:extLst>
              <a:ext uri="{FF2B5EF4-FFF2-40B4-BE49-F238E27FC236}">
                <a16:creationId xmlns:a16="http://schemas.microsoft.com/office/drawing/2014/main" id="{BADF42EA-4E20-76FD-BC87-52F36E5D4B15}"/>
              </a:ext>
            </a:extLst>
          </p:cNvPr>
          <p:cNvSpPr/>
          <p:nvPr/>
        </p:nvSpPr>
        <p:spPr>
          <a:xfrm>
            <a:off x="6327648" y="2450742"/>
            <a:ext cx="2560320" cy="347472"/>
          </a:xfrm>
          <a:prstGeom prst="roundRect">
            <a:avLst>
              <a:gd name="adj" fmla="val 15789"/>
            </a:avLst>
          </a:prstGeom>
          <a:solidFill>
            <a:srgbClr val="142B45"/>
          </a:solidFill>
          <a:ln/>
        </p:spPr>
        <p:txBody>
          <a:bodyPr/>
          <a:lstStyle/>
          <a:p>
            <a:endParaRPr lang="en-IN"/>
          </a:p>
        </p:txBody>
      </p:sp>
      <p:sp>
        <p:nvSpPr>
          <p:cNvPr id="47" name="Text 15">
            <a:extLst>
              <a:ext uri="{FF2B5EF4-FFF2-40B4-BE49-F238E27FC236}">
                <a16:creationId xmlns:a16="http://schemas.microsoft.com/office/drawing/2014/main" id="{F5680C01-A44D-51F4-9D49-A549EE95C245}"/>
              </a:ext>
            </a:extLst>
          </p:cNvPr>
          <p:cNvSpPr/>
          <p:nvPr/>
        </p:nvSpPr>
        <p:spPr>
          <a:xfrm>
            <a:off x="6423660" y="2448500"/>
            <a:ext cx="2377440"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Wheel encoders</a:t>
            </a:r>
            <a:endParaRPr lang="en-US" sz="1400" dirty="0"/>
          </a:p>
        </p:txBody>
      </p:sp>
      <p:sp>
        <p:nvSpPr>
          <p:cNvPr id="49" name="Shape 16">
            <a:extLst>
              <a:ext uri="{FF2B5EF4-FFF2-40B4-BE49-F238E27FC236}">
                <a16:creationId xmlns:a16="http://schemas.microsoft.com/office/drawing/2014/main" id="{74C83857-7A4F-44C2-70EC-5995E2742DA8}"/>
              </a:ext>
            </a:extLst>
          </p:cNvPr>
          <p:cNvSpPr/>
          <p:nvPr/>
        </p:nvSpPr>
        <p:spPr>
          <a:xfrm>
            <a:off x="9043243" y="2441770"/>
            <a:ext cx="2560320" cy="379154"/>
          </a:xfrm>
          <a:prstGeom prst="roundRect">
            <a:avLst>
              <a:gd name="adj" fmla="val 15789"/>
            </a:avLst>
          </a:prstGeom>
          <a:solidFill>
            <a:srgbClr val="142B45"/>
          </a:solidFill>
          <a:ln/>
        </p:spPr>
        <p:txBody>
          <a:bodyPr/>
          <a:lstStyle/>
          <a:p>
            <a:endParaRPr lang="en-IN"/>
          </a:p>
        </p:txBody>
      </p:sp>
      <p:sp>
        <p:nvSpPr>
          <p:cNvPr id="53" name="Text 17">
            <a:extLst>
              <a:ext uri="{FF2B5EF4-FFF2-40B4-BE49-F238E27FC236}">
                <a16:creationId xmlns:a16="http://schemas.microsoft.com/office/drawing/2014/main" id="{153700F4-8D84-B22F-63B3-3C1746BDDD99}"/>
              </a:ext>
            </a:extLst>
          </p:cNvPr>
          <p:cNvSpPr/>
          <p:nvPr/>
        </p:nvSpPr>
        <p:spPr>
          <a:xfrm>
            <a:off x="9134682" y="2450742"/>
            <a:ext cx="2752517" cy="347472"/>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Raspberry Pi (telemetry / V2V)</a:t>
            </a:r>
            <a:endParaRPr lang="en-US" sz="1400" dirty="0"/>
          </a:p>
        </p:txBody>
      </p:sp>
      <p:sp>
        <p:nvSpPr>
          <p:cNvPr id="57" name="Text 18">
            <a:extLst>
              <a:ext uri="{FF2B5EF4-FFF2-40B4-BE49-F238E27FC236}">
                <a16:creationId xmlns:a16="http://schemas.microsoft.com/office/drawing/2014/main" id="{1AD12CE0-B2BF-82E9-2924-629B367BCE0B}"/>
              </a:ext>
            </a:extLst>
          </p:cNvPr>
          <p:cNvSpPr/>
          <p:nvPr/>
        </p:nvSpPr>
        <p:spPr>
          <a:xfrm>
            <a:off x="6423660" y="3005530"/>
            <a:ext cx="5303520" cy="960120"/>
          </a:xfrm>
          <a:prstGeom prst="rect">
            <a:avLst/>
          </a:prstGeom>
          <a:noFill/>
          <a:ln/>
        </p:spPr>
        <p:txBody>
          <a:bodyPr wrap="square" lIns="0" tIns="0" rIns="0" bIns="0" rtlCol="0" anchor="t"/>
          <a:lstStyle/>
          <a:p>
            <a:pPr marL="0" indent="0">
              <a:lnSpc>
                <a:spcPts val="1400"/>
              </a:lnSpc>
              <a:buNone/>
            </a:pPr>
            <a:r>
              <a:rPr lang="en-US" sz="1200" dirty="0">
                <a:solidFill>
                  <a:srgbClr val="C7D2DE"/>
                </a:solidFill>
                <a:latin typeface="Arial" pitchFamily="34" charset="0"/>
                <a:ea typeface="Arial" pitchFamily="34" charset="-122"/>
                <a:cs typeface="Arial" pitchFamily="34" charset="-120"/>
              </a:rPr>
              <a:t>Low-cost, readily available parts validate the full decision and control logic. The architecture is modular, the same pipeline scales to industrial LiDAR / radar without a redesign, letting NMDC validate cheaply before fleet-wide investment.</a:t>
            </a:r>
            <a:endParaRPr lang="en-US" sz="1200" dirty="0"/>
          </a:p>
        </p:txBody>
      </p:sp>
      <p:sp>
        <p:nvSpPr>
          <p:cNvPr id="61" name="Text 19">
            <a:extLst>
              <a:ext uri="{FF2B5EF4-FFF2-40B4-BE49-F238E27FC236}">
                <a16:creationId xmlns:a16="http://schemas.microsoft.com/office/drawing/2014/main" id="{8F20A069-FA6A-71A6-6019-1272FE795541}"/>
              </a:ext>
            </a:extLst>
          </p:cNvPr>
          <p:cNvSpPr/>
          <p:nvPr/>
        </p:nvSpPr>
        <p:spPr>
          <a:xfrm>
            <a:off x="6423660" y="4091723"/>
            <a:ext cx="5303520" cy="274320"/>
          </a:xfrm>
          <a:prstGeom prst="rect">
            <a:avLst/>
          </a:prstGeom>
          <a:noFill/>
          <a:ln/>
        </p:spPr>
        <p:txBody>
          <a:bodyPr wrap="square" lIns="0" tIns="0" rIns="0" bIns="0" rtlCol="0" anchor="ctr"/>
          <a:lstStyle/>
          <a:p>
            <a:pPr marL="0" indent="0">
              <a:buNone/>
            </a:pPr>
            <a:r>
              <a:rPr lang="en-US" sz="1400" b="1" kern="0" spc="100" dirty="0">
                <a:solidFill>
                  <a:srgbClr val="F5A623"/>
                </a:solidFill>
                <a:latin typeface="Arial" pitchFamily="34" charset="0"/>
                <a:ea typeface="Arial" pitchFamily="34" charset="-122"/>
                <a:cs typeface="Arial" pitchFamily="34" charset="-120"/>
              </a:rPr>
              <a:t>BUILT FOR RELIABILITY</a:t>
            </a:r>
            <a:endParaRPr lang="en-US" sz="1400" dirty="0"/>
          </a:p>
        </p:txBody>
      </p:sp>
      <p:sp>
        <p:nvSpPr>
          <p:cNvPr id="65" name="Text 20">
            <a:extLst>
              <a:ext uri="{FF2B5EF4-FFF2-40B4-BE49-F238E27FC236}">
                <a16:creationId xmlns:a16="http://schemas.microsoft.com/office/drawing/2014/main" id="{E6BC82B3-299F-783F-CCAC-EB8A6CFE2187}"/>
              </a:ext>
            </a:extLst>
          </p:cNvPr>
          <p:cNvSpPr/>
          <p:nvPr/>
        </p:nvSpPr>
        <p:spPr>
          <a:xfrm>
            <a:off x="6355080" y="4471199"/>
            <a:ext cx="5303520" cy="1554480"/>
          </a:xfrm>
          <a:prstGeom prst="rect">
            <a:avLst/>
          </a:prstGeom>
          <a:noFill/>
          <a:ln/>
        </p:spPr>
        <p:txBody>
          <a:bodyPr wrap="square" lIns="0" tIns="0" rIns="0" bIns="0" rtlCol="0" anchor="t"/>
          <a:lstStyle/>
          <a:p>
            <a:pPr marL="127000" indent="-127000">
              <a:lnSpc>
                <a:spcPts val="1500"/>
              </a:lnSpc>
              <a:spcAft>
                <a:spcPts val="400"/>
              </a:spcAft>
              <a:buSzPct val="100000"/>
              <a:buChar char="●"/>
            </a:pPr>
            <a:r>
              <a:rPr lang="en-US" sz="1400" dirty="0">
                <a:solidFill>
                  <a:srgbClr val="C7D2DE"/>
                </a:solidFill>
                <a:latin typeface="Arial" pitchFamily="34" charset="0"/>
                <a:ea typeface="Arial" pitchFamily="34" charset="-122"/>
                <a:cs typeface="Arial" pitchFamily="34" charset="-120"/>
              </a:rPr>
              <a:t>Multi-sensor fusion stays reliable even when individual sensors lose confidence in fog.</a:t>
            </a:r>
            <a:endParaRPr lang="en-US" sz="1400" dirty="0"/>
          </a:p>
          <a:p>
            <a:pPr marL="127000" indent="-127000">
              <a:lnSpc>
                <a:spcPts val="1500"/>
              </a:lnSpc>
              <a:spcAft>
                <a:spcPts val="400"/>
              </a:spcAft>
              <a:buSzPct val="100000"/>
              <a:buChar char="●"/>
            </a:pPr>
            <a:r>
              <a:rPr lang="en-US" sz="1400" dirty="0">
                <a:solidFill>
                  <a:srgbClr val="C7D2DE"/>
                </a:solidFill>
                <a:latin typeface="Arial" pitchFamily="34" charset="0"/>
                <a:ea typeface="Arial" pitchFamily="34" charset="-122"/>
                <a:cs typeface="Arial" pitchFamily="34" charset="-120"/>
              </a:rPr>
              <a:t>Fail-safes (NC e-stop, watchdog, command-timeout) default the vehicle to a safe stop on any fault.</a:t>
            </a:r>
            <a:endParaRPr lang="en-US" sz="1400" dirty="0"/>
          </a:p>
          <a:p>
            <a:pPr marL="127000" indent="-127000">
              <a:lnSpc>
                <a:spcPts val="1500"/>
              </a:lnSpc>
              <a:spcAft>
                <a:spcPts val="400"/>
              </a:spcAft>
              <a:buSzPct val="100000"/>
              <a:buChar char="●"/>
            </a:pPr>
            <a:r>
              <a:rPr lang="en-US" sz="1400" dirty="0">
                <a:solidFill>
                  <a:srgbClr val="C7D2DE"/>
                </a:solidFill>
                <a:latin typeface="Arial" pitchFamily="34" charset="0"/>
                <a:ea typeface="Arial" pitchFamily="34" charset="-122"/>
                <a:cs typeface="Arial" pitchFamily="34" charset="-120"/>
              </a:rPr>
              <a:t>Predictive, not reactive and calculates risk before a hazard becomes critical.</a:t>
            </a:r>
            <a:endParaRPr lang="en-US" sz="1400" dirty="0"/>
          </a:p>
          <a:p>
            <a:pPr marL="127000" indent="-127000">
              <a:lnSpc>
                <a:spcPts val="1500"/>
              </a:lnSpc>
              <a:spcAft>
                <a:spcPts val="400"/>
              </a:spcAft>
              <a:buSzPct val="100000"/>
              <a:buChar char="●"/>
            </a:pPr>
            <a:r>
              <a:rPr lang="en-US" sz="1400" dirty="0">
                <a:solidFill>
                  <a:srgbClr val="C7D2DE"/>
                </a:solidFill>
                <a:latin typeface="Arial" pitchFamily="34" charset="0"/>
                <a:ea typeface="Arial" pitchFamily="34" charset="-122"/>
                <a:cs typeface="Arial" pitchFamily="34" charset="-120"/>
              </a:rPr>
              <a:t>Tested against fog, sensor noise, comms delay &amp; message loss, not just ideal cases.</a:t>
            </a:r>
            <a:endParaRPr lang="en-US" sz="1400" dirty="0"/>
          </a:p>
        </p:txBody>
      </p:sp>
      <p:sp>
        <p:nvSpPr>
          <p:cNvPr id="69" name="Text 21">
            <a:extLst>
              <a:ext uri="{FF2B5EF4-FFF2-40B4-BE49-F238E27FC236}">
                <a16:creationId xmlns:a16="http://schemas.microsoft.com/office/drawing/2014/main" id="{C4D0BA3A-29FE-97E6-D524-4561D87E530D}"/>
              </a:ext>
            </a:extLst>
          </p:cNvPr>
          <p:cNvSpPr/>
          <p:nvPr/>
        </p:nvSpPr>
        <p:spPr>
          <a:xfrm>
            <a:off x="457200" y="6519672"/>
            <a:ext cx="8686800" cy="274320"/>
          </a:xfrm>
          <a:prstGeom prst="rect">
            <a:avLst/>
          </a:prstGeom>
          <a:noFill/>
          <a:ln/>
        </p:spPr>
        <p:txBody>
          <a:bodyPr wrap="square" lIns="0" tIns="0" rIns="0" bIns="0" rtlCol="0" anchor="ctr"/>
          <a:lstStyle/>
          <a:p>
            <a:pPr marL="0" indent="0">
              <a:buNone/>
            </a:pPr>
            <a:r>
              <a:rPr lang="en-US" sz="900" dirty="0">
                <a:solidFill>
                  <a:srgbClr val="8FA0B3"/>
                </a:solidFill>
                <a:latin typeface="Arial" pitchFamily="34" charset="0"/>
                <a:ea typeface="Arial" pitchFamily="34" charset="-122"/>
                <a:cs typeface="Arial" pitchFamily="34" charset="-120"/>
              </a:rPr>
              <a:t>SIH 2026  |  Problem Statement SIH26007  |  NMDC – Ministry of Steel</a:t>
            </a:r>
            <a:endParaRPr lang="en-US" sz="900" dirty="0"/>
          </a:p>
        </p:txBody>
      </p:sp>
      <p:sp>
        <p:nvSpPr>
          <p:cNvPr id="73" name="Text 22">
            <a:extLst>
              <a:ext uri="{FF2B5EF4-FFF2-40B4-BE49-F238E27FC236}">
                <a16:creationId xmlns:a16="http://schemas.microsoft.com/office/drawing/2014/main" id="{A3AA13A4-025E-7F35-966D-2F83B46962D0}"/>
              </a:ext>
            </a:extLst>
          </p:cNvPr>
          <p:cNvSpPr/>
          <p:nvPr/>
        </p:nvSpPr>
        <p:spPr>
          <a:xfrm>
            <a:off x="11521440" y="6519672"/>
            <a:ext cx="365760" cy="274320"/>
          </a:xfrm>
          <a:prstGeom prst="rect">
            <a:avLst/>
          </a:prstGeom>
          <a:noFill/>
          <a:ln/>
        </p:spPr>
        <p:txBody>
          <a:bodyPr wrap="square" lIns="0" tIns="0" rIns="0" bIns="0" rtlCol="0" anchor="ctr"/>
          <a:lstStyle/>
          <a:p>
            <a:pPr marL="0" indent="0" algn="r">
              <a:buNone/>
            </a:pPr>
            <a:r>
              <a:rPr lang="en-US" sz="900" dirty="0">
                <a:solidFill>
                  <a:srgbClr val="8FA0B3"/>
                </a:solidFill>
                <a:latin typeface="Arial" pitchFamily="34" charset="0"/>
                <a:ea typeface="Arial" pitchFamily="34" charset="-122"/>
                <a:cs typeface="Arial" pitchFamily="34" charset="-120"/>
              </a:rPr>
              <a:t>6</a:t>
            </a:r>
            <a:endParaRPr lang="en-US" sz="900" dirty="0"/>
          </a:p>
        </p:txBody>
      </p:sp>
      <p:pic>
        <p:nvPicPr>
          <p:cNvPr id="75" name="Picture 74" descr="circuit.jpg"/>
          <p:cNvPicPr>
            <a:picLocks noChangeAspect="1"/>
          </p:cNvPicPr>
          <p:nvPr/>
        </p:nvPicPr>
        <p:blipFill>
          <a:blip r:embed="rId3"/>
          <a:stretch>
            <a:fillRect/>
          </a:stretch>
        </p:blipFill>
        <p:spPr>
          <a:xfrm>
            <a:off x="612648" y="1280160"/>
            <a:ext cx="5358384" cy="3063240"/>
          </a:xfrm>
          <a:prstGeom prst="rect">
            <a:avLst/>
          </a:prstGeom>
        </p:spPr>
      </p:pic>
      <p:pic>
        <p:nvPicPr>
          <p:cNvPr id="78" name="Picture 77" descr="service_electronics.jpg"/>
          <p:cNvPicPr>
            <a:picLocks noChangeAspect="1"/>
          </p:cNvPicPr>
          <p:nvPr/>
        </p:nvPicPr>
        <p:blipFill>
          <a:blip r:embed="rId4"/>
          <a:stretch>
            <a:fillRect/>
          </a:stretch>
        </p:blipFill>
        <p:spPr>
          <a:xfrm>
            <a:off x="598932" y="4471199"/>
            <a:ext cx="2523744" cy="1890523"/>
          </a:xfrm>
          <a:prstGeom prst="rect">
            <a:avLst/>
          </a:prstGeom>
        </p:spPr>
      </p:pic>
      <p:sp>
        <p:nvSpPr>
          <p:cNvPr id="79" name="Rounded Rectangle 78"/>
          <p:cNvSpPr/>
          <p:nvPr/>
        </p:nvSpPr>
        <p:spPr>
          <a:xfrm>
            <a:off x="649224" y="6131052"/>
            <a:ext cx="1783080" cy="228600"/>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5A623"/>
                </a:solidFill>
                <a:latin typeface="Aptos"/>
              </a:rPr>
              <a:t>SERVICE ELECTRONICS</a:t>
            </a:r>
          </a:p>
        </p:txBody>
      </p:sp>
      <p:pic>
        <p:nvPicPr>
          <p:cNvPr id="81" name="Picture 80" descr="demo_electronics.jpg"/>
          <p:cNvPicPr>
            <a:picLocks noChangeAspect="1"/>
          </p:cNvPicPr>
          <p:nvPr/>
        </p:nvPicPr>
        <p:blipFill>
          <a:blip r:embed="rId5"/>
          <a:stretch>
            <a:fillRect/>
          </a:stretch>
        </p:blipFill>
        <p:spPr>
          <a:xfrm>
            <a:off x="3284982" y="4466626"/>
            <a:ext cx="2523744" cy="1893026"/>
          </a:xfrm>
          <a:prstGeom prst="rect">
            <a:avLst/>
          </a:prstGeom>
        </p:spPr>
      </p:pic>
      <p:sp>
        <p:nvSpPr>
          <p:cNvPr id="82" name="Rounded Rectangle 81"/>
          <p:cNvSpPr/>
          <p:nvPr/>
        </p:nvSpPr>
        <p:spPr>
          <a:xfrm>
            <a:off x="3407283" y="6131052"/>
            <a:ext cx="1783080" cy="228600"/>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750" b="1" dirty="0">
                <a:solidFill>
                  <a:srgbClr val="F5A623"/>
                </a:solidFill>
                <a:latin typeface="Aptos"/>
              </a:rPr>
              <a:t>DEMO ELECTRONICS</a:t>
            </a:r>
          </a:p>
        </p:txBody>
      </p:sp>
      <p:sp>
        <p:nvSpPr>
          <p:cNvPr id="4" name="Rounded Rectangle 78">
            <a:extLst>
              <a:ext uri="{FF2B5EF4-FFF2-40B4-BE49-F238E27FC236}">
                <a16:creationId xmlns:a16="http://schemas.microsoft.com/office/drawing/2014/main" id="{C9A0CC37-2617-A356-5E86-C8B8D8DD1E0C}"/>
              </a:ext>
            </a:extLst>
          </p:cNvPr>
          <p:cNvSpPr/>
          <p:nvPr/>
        </p:nvSpPr>
        <p:spPr>
          <a:xfrm>
            <a:off x="770512" y="4128299"/>
            <a:ext cx="1783080" cy="228600"/>
          </a:xfrm>
          <a:prstGeom prst="roundRect">
            <a:avLst/>
          </a:prstGeom>
          <a:solidFill>
            <a:srgbClr val="0B1D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750" b="1" dirty="0">
                <a:solidFill>
                  <a:srgbClr val="F5A623"/>
                </a:solidFill>
                <a:latin typeface="Aptos"/>
              </a:rPr>
              <a:t>CONTROL AND SAFTEY WIRING</a:t>
            </a:r>
            <a:endParaRPr sz="750" b="1" dirty="0">
              <a:solidFill>
                <a:srgbClr val="F5A623"/>
              </a:solidFill>
              <a:latin typeface="Aptos"/>
            </a:endParaRPr>
          </a:p>
        </p:txBody>
      </p:sp>
    </p:spTree>
    <p:extLst>
      <p:ext uri="{BB962C8B-B14F-4D97-AF65-F5344CB8AC3E}">
        <p14:creationId xmlns:p14="http://schemas.microsoft.com/office/powerpoint/2010/main" val="3256744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a:extLst>
            <a:ext uri="{FF2B5EF4-FFF2-40B4-BE49-F238E27FC236}">
              <a16:creationId xmlns:a16="http://schemas.microsoft.com/office/drawing/2014/main" id="{27C3FA1E-E3E7-60FD-4BCA-5B2991C764F4}"/>
            </a:ext>
          </a:extLst>
        </p:cNvPr>
        <p:cNvGrpSpPr/>
        <p:nvPr/>
      </p:nvGrpSpPr>
      <p:grpSpPr>
        <a:xfrm>
          <a:off x="0" y="0"/>
          <a:ext cx="0" cy="0"/>
          <a:chOff x="0" y="0"/>
          <a:chExt cx="0" cy="0"/>
        </a:xfrm>
      </p:grpSpPr>
      <p:sp>
        <p:nvSpPr>
          <p:cNvPr id="7" name="Text 1">
            <a:extLst>
              <a:ext uri="{FF2B5EF4-FFF2-40B4-BE49-F238E27FC236}">
                <a16:creationId xmlns:a16="http://schemas.microsoft.com/office/drawing/2014/main" id="{92AC66E5-C3FD-A81A-3291-D7F0B97BA141}"/>
              </a:ext>
            </a:extLst>
          </p:cNvPr>
          <p:cNvSpPr/>
          <p:nvPr/>
        </p:nvSpPr>
        <p:spPr>
          <a:xfrm>
            <a:off x="457200" y="502920"/>
            <a:ext cx="3657600" cy="274320"/>
          </a:xfrm>
          <a:prstGeom prst="rect">
            <a:avLst/>
          </a:prstGeom>
          <a:noFill/>
          <a:ln/>
        </p:spPr>
        <p:txBody>
          <a:bodyPr wrap="square" lIns="0" tIns="0" rIns="0" bIns="0" rtlCol="0" anchor="ctr"/>
          <a:lstStyle/>
          <a:p>
            <a:pPr marL="0" indent="0">
              <a:buNone/>
            </a:pPr>
            <a:r>
              <a:rPr lang="en-US" sz="1200" b="1" kern="0" spc="200" dirty="0">
                <a:solidFill>
                  <a:srgbClr val="F5A623"/>
                </a:solidFill>
                <a:latin typeface="Arial" pitchFamily="34" charset="0"/>
                <a:ea typeface="Arial" pitchFamily="34" charset="-122"/>
                <a:cs typeface="Arial" pitchFamily="34" charset="-120"/>
              </a:rPr>
              <a:t>SIH 2026  –  SIH26007</a:t>
            </a:r>
            <a:endParaRPr lang="en-US" sz="1200" dirty="0"/>
          </a:p>
        </p:txBody>
      </p:sp>
      <p:sp>
        <p:nvSpPr>
          <p:cNvPr id="9" name="Text 2">
            <a:extLst>
              <a:ext uri="{FF2B5EF4-FFF2-40B4-BE49-F238E27FC236}">
                <a16:creationId xmlns:a16="http://schemas.microsoft.com/office/drawing/2014/main" id="{CD783B0A-3DC1-E50F-1BD1-824B0D9123D6}"/>
              </a:ext>
            </a:extLst>
          </p:cNvPr>
          <p:cNvSpPr/>
          <p:nvPr/>
        </p:nvSpPr>
        <p:spPr>
          <a:xfrm>
            <a:off x="457200" y="82296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Our Team</a:t>
            </a:r>
            <a:endParaRPr lang="en-US" sz="3000" dirty="0"/>
          </a:p>
        </p:txBody>
      </p:sp>
      <p:sp>
        <p:nvSpPr>
          <p:cNvPr id="11" name="Text 3">
            <a:extLst>
              <a:ext uri="{FF2B5EF4-FFF2-40B4-BE49-F238E27FC236}">
                <a16:creationId xmlns:a16="http://schemas.microsoft.com/office/drawing/2014/main" id="{28740133-F659-A8AE-839C-CA23C025A992}"/>
              </a:ext>
            </a:extLst>
          </p:cNvPr>
          <p:cNvSpPr/>
          <p:nvPr/>
        </p:nvSpPr>
        <p:spPr>
          <a:xfrm>
            <a:off x="457200" y="1417320"/>
            <a:ext cx="7315200" cy="411480"/>
          </a:xfrm>
          <a:prstGeom prst="rect">
            <a:avLst/>
          </a:prstGeom>
          <a:noFill/>
          <a:ln/>
        </p:spPr>
        <p:txBody>
          <a:bodyPr wrap="square" lIns="0" tIns="0" rIns="0" bIns="0" rtlCol="0" anchor="ctr"/>
          <a:lstStyle/>
          <a:p>
            <a:pPr marL="0" indent="0">
              <a:buNone/>
            </a:pPr>
            <a:r>
              <a:rPr lang="en-US" sz="1500" i="1" dirty="0">
                <a:solidFill>
                  <a:srgbClr val="F5A623"/>
                </a:solidFill>
                <a:latin typeface="Arial" pitchFamily="34" charset="0"/>
                <a:ea typeface="Arial" pitchFamily="34" charset="-122"/>
                <a:cs typeface="Arial" pitchFamily="34" charset="-120"/>
              </a:rPr>
              <a:t>Team First Light</a:t>
            </a:r>
            <a:endParaRPr lang="en-US" sz="1500" dirty="0"/>
          </a:p>
        </p:txBody>
      </p:sp>
      <p:sp>
        <p:nvSpPr>
          <p:cNvPr id="13" name="Shape 4">
            <a:extLst>
              <a:ext uri="{FF2B5EF4-FFF2-40B4-BE49-F238E27FC236}">
                <a16:creationId xmlns:a16="http://schemas.microsoft.com/office/drawing/2014/main" id="{48E8508E-39D9-CF12-28FA-2F04B90F0E09}"/>
              </a:ext>
            </a:extLst>
          </p:cNvPr>
          <p:cNvSpPr/>
          <p:nvPr/>
        </p:nvSpPr>
        <p:spPr>
          <a:xfrm>
            <a:off x="457200" y="2148840"/>
            <a:ext cx="3520440" cy="1234440"/>
          </a:xfrm>
          <a:prstGeom prst="roundRect">
            <a:avLst>
              <a:gd name="adj" fmla="val 5926"/>
            </a:avLst>
          </a:prstGeom>
          <a:solidFill>
            <a:srgbClr val="142B45"/>
          </a:solidFill>
          <a:ln/>
        </p:spPr>
        <p:txBody>
          <a:bodyPr/>
          <a:lstStyle/>
          <a:p>
            <a:endParaRPr lang="en-IN"/>
          </a:p>
        </p:txBody>
      </p:sp>
      <p:sp>
        <p:nvSpPr>
          <p:cNvPr id="17" name="Text 6">
            <a:extLst>
              <a:ext uri="{FF2B5EF4-FFF2-40B4-BE49-F238E27FC236}">
                <a16:creationId xmlns:a16="http://schemas.microsoft.com/office/drawing/2014/main" id="{027AE410-24DC-C50D-FEE6-B5B847F7AB97}"/>
              </a:ext>
            </a:extLst>
          </p:cNvPr>
          <p:cNvSpPr/>
          <p:nvPr/>
        </p:nvSpPr>
        <p:spPr>
          <a:xfrm>
            <a:off x="778965" y="2358634"/>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Nitish Kumar</a:t>
            </a:r>
            <a:endParaRPr lang="en-US" sz="1350" dirty="0"/>
          </a:p>
        </p:txBody>
      </p:sp>
      <p:sp>
        <p:nvSpPr>
          <p:cNvPr id="19" name="Text 7">
            <a:extLst>
              <a:ext uri="{FF2B5EF4-FFF2-40B4-BE49-F238E27FC236}">
                <a16:creationId xmlns:a16="http://schemas.microsoft.com/office/drawing/2014/main" id="{7BF89758-923A-7E05-62C8-CC7171FF6945}"/>
              </a:ext>
            </a:extLst>
          </p:cNvPr>
          <p:cNvSpPr/>
          <p:nvPr/>
        </p:nvSpPr>
        <p:spPr>
          <a:xfrm>
            <a:off x="778965" y="2715768"/>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Leader</a:t>
            </a:r>
            <a:endParaRPr lang="en-US" sz="1100" dirty="0"/>
          </a:p>
        </p:txBody>
      </p:sp>
      <p:sp>
        <p:nvSpPr>
          <p:cNvPr id="21" name="Shape 8">
            <a:extLst>
              <a:ext uri="{FF2B5EF4-FFF2-40B4-BE49-F238E27FC236}">
                <a16:creationId xmlns:a16="http://schemas.microsoft.com/office/drawing/2014/main" id="{FB367546-D45E-B45A-7D02-3340EAD256F2}"/>
              </a:ext>
            </a:extLst>
          </p:cNvPr>
          <p:cNvSpPr/>
          <p:nvPr/>
        </p:nvSpPr>
        <p:spPr>
          <a:xfrm>
            <a:off x="4251960" y="2148840"/>
            <a:ext cx="3520440" cy="1234440"/>
          </a:xfrm>
          <a:prstGeom prst="roundRect">
            <a:avLst>
              <a:gd name="adj" fmla="val 5926"/>
            </a:avLst>
          </a:prstGeom>
          <a:solidFill>
            <a:srgbClr val="142B45"/>
          </a:solidFill>
          <a:ln/>
        </p:spPr>
        <p:txBody>
          <a:bodyPr/>
          <a:lstStyle/>
          <a:p>
            <a:endParaRPr lang="en-IN"/>
          </a:p>
        </p:txBody>
      </p:sp>
      <p:sp>
        <p:nvSpPr>
          <p:cNvPr id="27" name="Text 10">
            <a:extLst>
              <a:ext uri="{FF2B5EF4-FFF2-40B4-BE49-F238E27FC236}">
                <a16:creationId xmlns:a16="http://schemas.microsoft.com/office/drawing/2014/main" id="{6403B9B4-50B1-D0EC-93E6-5A8509A9D15E}"/>
              </a:ext>
            </a:extLst>
          </p:cNvPr>
          <p:cNvSpPr/>
          <p:nvPr/>
        </p:nvSpPr>
        <p:spPr>
          <a:xfrm>
            <a:off x="4513340" y="2358634"/>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Akul Batra</a:t>
            </a:r>
            <a:endParaRPr lang="en-US" sz="1350" dirty="0"/>
          </a:p>
        </p:txBody>
      </p:sp>
      <p:sp>
        <p:nvSpPr>
          <p:cNvPr id="31" name="Text 11">
            <a:extLst>
              <a:ext uri="{FF2B5EF4-FFF2-40B4-BE49-F238E27FC236}">
                <a16:creationId xmlns:a16="http://schemas.microsoft.com/office/drawing/2014/main" id="{1A12E33F-F5FC-0EE4-9146-EF18948C9D63}"/>
              </a:ext>
            </a:extLst>
          </p:cNvPr>
          <p:cNvSpPr/>
          <p:nvPr/>
        </p:nvSpPr>
        <p:spPr>
          <a:xfrm>
            <a:off x="4513340" y="2715768"/>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Member</a:t>
            </a:r>
            <a:endParaRPr lang="en-US" sz="1100" dirty="0"/>
          </a:p>
        </p:txBody>
      </p:sp>
      <p:sp>
        <p:nvSpPr>
          <p:cNvPr id="35" name="Shape 12">
            <a:extLst>
              <a:ext uri="{FF2B5EF4-FFF2-40B4-BE49-F238E27FC236}">
                <a16:creationId xmlns:a16="http://schemas.microsoft.com/office/drawing/2014/main" id="{1400A1EE-7D64-F94A-EB2F-82B4D2359C27}"/>
              </a:ext>
            </a:extLst>
          </p:cNvPr>
          <p:cNvSpPr/>
          <p:nvPr/>
        </p:nvSpPr>
        <p:spPr>
          <a:xfrm>
            <a:off x="457200" y="3611880"/>
            <a:ext cx="3520440" cy="1234440"/>
          </a:xfrm>
          <a:prstGeom prst="roundRect">
            <a:avLst>
              <a:gd name="adj" fmla="val 5926"/>
            </a:avLst>
          </a:prstGeom>
          <a:solidFill>
            <a:srgbClr val="142B45"/>
          </a:solidFill>
          <a:ln/>
        </p:spPr>
        <p:txBody>
          <a:bodyPr/>
          <a:lstStyle/>
          <a:p>
            <a:endParaRPr lang="en-IN"/>
          </a:p>
        </p:txBody>
      </p:sp>
      <p:sp>
        <p:nvSpPr>
          <p:cNvPr id="43" name="Text 14">
            <a:extLst>
              <a:ext uri="{FF2B5EF4-FFF2-40B4-BE49-F238E27FC236}">
                <a16:creationId xmlns:a16="http://schemas.microsoft.com/office/drawing/2014/main" id="{06FA3F5A-3605-2E8A-B516-BEA022723360}"/>
              </a:ext>
            </a:extLst>
          </p:cNvPr>
          <p:cNvSpPr/>
          <p:nvPr/>
        </p:nvSpPr>
        <p:spPr>
          <a:xfrm>
            <a:off x="778965" y="3881628"/>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Kritika Purbey</a:t>
            </a:r>
            <a:endParaRPr lang="en-US" sz="1350" dirty="0"/>
          </a:p>
        </p:txBody>
      </p:sp>
      <p:sp>
        <p:nvSpPr>
          <p:cNvPr id="47" name="Text 15">
            <a:extLst>
              <a:ext uri="{FF2B5EF4-FFF2-40B4-BE49-F238E27FC236}">
                <a16:creationId xmlns:a16="http://schemas.microsoft.com/office/drawing/2014/main" id="{0BB973C2-7BE1-0B1A-1C60-2A61A2B63F4C}"/>
              </a:ext>
            </a:extLst>
          </p:cNvPr>
          <p:cNvSpPr/>
          <p:nvPr/>
        </p:nvSpPr>
        <p:spPr>
          <a:xfrm>
            <a:off x="778965" y="4229100"/>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Member</a:t>
            </a:r>
            <a:endParaRPr lang="en-US" sz="1100" dirty="0"/>
          </a:p>
        </p:txBody>
      </p:sp>
      <p:sp>
        <p:nvSpPr>
          <p:cNvPr id="49" name="Shape 16">
            <a:extLst>
              <a:ext uri="{FF2B5EF4-FFF2-40B4-BE49-F238E27FC236}">
                <a16:creationId xmlns:a16="http://schemas.microsoft.com/office/drawing/2014/main" id="{93720C56-DBD8-A34B-EFE0-9486B5548386}"/>
              </a:ext>
            </a:extLst>
          </p:cNvPr>
          <p:cNvSpPr/>
          <p:nvPr/>
        </p:nvSpPr>
        <p:spPr>
          <a:xfrm>
            <a:off x="4251960" y="3611880"/>
            <a:ext cx="3520440" cy="1234440"/>
          </a:xfrm>
          <a:prstGeom prst="roundRect">
            <a:avLst>
              <a:gd name="adj" fmla="val 5926"/>
            </a:avLst>
          </a:prstGeom>
          <a:solidFill>
            <a:srgbClr val="142B45"/>
          </a:solidFill>
          <a:ln/>
        </p:spPr>
        <p:txBody>
          <a:bodyPr/>
          <a:lstStyle/>
          <a:p>
            <a:endParaRPr lang="en-IN"/>
          </a:p>
        </p:txBody>
      </p:sp>
      <p:sp>
        <p:nvSpPr>
          <p:cNvPr id="57" name="Text 18">
            <a:extLst>
              <a:ext uri="{FF2B5EF4-FFF2-40B4-BE49-F238E27FC236}">
                <a16:creationId xmlns:a16="http://schemas.microsoft.com/office/drawing/2014/main" id="{E654551C-27A7-E4CA-60A5-8505B33B7CF3}"/>
              </a:ext>
            </a:extLst>
          </p:cNvPr>
          <p:cNvSpPr/>
          <p:nvPr/>
        </p:nvSpPr>
        <p:spPr>
          <a:xfrm>
            <a:off x="4513340" y="3903022"/>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Tejas Gupta</a:t>
            </a:r>
            <a:endParaRPr lang="en-US" sz="1350" dirty="0"/>
          </a:p>
        </p:txBody>
      </p:sp>
      <p:sp>
        <p:nvSpPr>
          <p:cNvPr id="61" name="Text 19">
            <a:extLst>
              <a:ext uri="{FF2B5EF4-FFF2-40B4-BE49-F238E27FC236}">
                <a16:creationId xmlns:a16="http://schemas.microsoft.com/office/drawing/2014/main" id="{FB2E0982-34BF-23F6-F6AD-045265E849F2}"/>
              </a:ext>
            </a:extLst>
          </p:cNvPr>
          <p:cNvSpPr/>
          <p:nvPr/>
        </p:nvSpPr>
        <p:spPr>
          <a:xfrm>
            <a:off x="4506439" y="4223062"/>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Member</a:t>
            </a:r>
            <a:endParaRPr lang="en-US" sz="1100" dirty="0"/>
          </a:p>
        </p:txBody>
      </p:sp>
      <p:sp>
        <p:nvSpPr>
          <p:cNvPr id="65" name="Shape 20">
            <a:extLst>
              <a:ext uri="{FF2B5EF4-FFF2-40B4-BE49-F238E27FC236}">
                <a16:creationId xmlns:a16="http://schemas.microsoft.com/office/drawing/2014/main" id="{08032287-3D97-F668-8172-590EFFA3A921}"/>
              </a:ext>
            </a:extLst>
          </p:cNvPr>
          <p:cNvSpPr/>
          <p:nvPr/>
        </p:nvSpPr>
        <p:spPr>
          <a:xfrm>
            <a:off x="457200" y="5074920"/>
            <a:ext cx="3520440" cy="1234440"/>
          </a:xfrm>
          <a:prstGeom prst="roundRect">
            <a:avLst>
              <a:gd name="adj" fmla="val 5926"/>
            </a:avLst>
          </a:prstGeom>
          <a:solidFill>
            <a:srgbClr val="142B45"/>
          </a:solidFill>
          <a:ln/>
        </p:spPr>
        <p:txBody>
          <a:bodyPr/>
          <a:lstStyle/>
          <a:p>
            <a:endParaRPr lang="en-IN"/>
          </a:p>
        </p:txBody>
      </p:sp>
      <p:sp>
        <p:nvSpPr>
          <p:cNvPr id="73" name="Text 22">
            <a:extLst>
              <a:ext uri="{FF2B5EF4-FFF2-40B4-BE49-F238E27FC236}">
                <a16:creationId xmlns:a16="http://schemas.microsoft.com/office/drawing/2014/main" id="{5B58B755-FC33-F383-3631-5C7F1CD56149}"/>
              </a:ext>
            </a:extLst>
          </p:cNvPr>
          <p:cNvSpPr/>
          <p:nvPr/>
        </p:nvSpPr>
        <p:spPr>
          <a:xfrm>
            <a:off x="778965" y="5367528"/>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Ghanansh Kuradia</a:t>
            </a:r>
            <a:endParaRPr lang="en-US" sz="1350" dirty="0"/>
          </a:p>
        </p:txBody>
      </p:sp>
      <p:sp>
        <p:nvSpPr>
          <p:cNvPr id="76" name="Text 23">
            <a:extLst>
              <a:ext uri="{FF2B5EF4-FFF2-40B4-BE49-F238E27FC236}">
                <a16:creationId xmlns:a16="http://schemas.microsoft.com/office/drawing/2014/main" id="{9308E424-57EE-4D7D-2E3F-1FB6B7E22F32}"/>
              </a:ext>
            </a:extLst>
          </p:cNvPr>
          <p:cNvSpPr/>
          <p:nvPr/>
        </p:nvSpPr>
        <p:spPr>
          <a:xfrm>
            <a:off x="778965" y="5697230"/>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Member</a:t>
            </a:r>
            <a:endParaRPr lang="en-US" sz="1100" dirty="0"/>
          </a:p>
        </p:txBody>
      </p:sp>
      <p:sp>
        <p:nvSpPr>
          <p:cNvPr id="79" name="Shape 24">
            <a:extLst>
              <a:ext uri="{FF2B5EF4-FFF2-40B4-BE49-F238E27FC236}">
                <a16:creationId xmlns:a16="http://schemas.microsoft.com/office/drawing/2014/main" id="{F828140F-96C8-D28F-96B3-62271EA017EE}"/>
              </a:ext>
            </a:extLst>
          </p:cNvPr>
          <p:cNvSpPr/>
          <p:nvPr/>
        </p:nvSpPr>
        <p:spPr>
          <a:xfrm>
            <a:off x="4251960" y="5074920"/>
            <a:ext cx="3520440" cy="1234440"/>
          </a:xfrm>
          <a:prstGeom prst="roundRect">
            <a:avLst>
              <a:gd name="adj" fmla="val 5926"/>
            </a:avLst>
          </a:prstGeom>
          <a:solidFill>
            <a:srgbClr val="142B45"/>
          </a:solidFill>
          <a:ln/>
        </p:spPr>
        <p:txBody>
          <a:bodyPr/>
          <a:lstStyle/>
          <a:p>
            <a:endParaRPr lang="en-IN"/>
          </a:p>
        </p:txBody>
      </p:sp>
      <p:sp>
        <p:nvSpPr>
          <p:cNvPr id="86" name="Text 26">
            <a:extLst>
              <a:ext uri="{FF2B5EF4-FFF2-40B4-BE49-F238E27FC236}">
                <a16:creationId xmlns:a16="http://schemas.microsoft.com/office/drawing/2014/main" id="{949A6B56-117D-46DE-8153-6AD4ED9E25B8}"/>
              </a:ext>
            </a:extLst>
          </p:cNvPr>
          <p:cNvSpPr/>
          <p:nvPr/>
        </p:nvSpPr>
        <p:spPr>
          <a:xfrm>
            <a:off x="4651363" y="5367528"/>
            <a:ext cx="2423160" cy="32004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Anika Mittal</a:t>
            </a:r>
            <a:endParaRPr lang="en-US" sz="1350" dirty="0"/>
          </a:p>
        </p:txBody>
      </p:sp>
      <p:sp>
        <p:nvSpPr>
          <p:cNvPr id="88" name="Text 27">
            <a:extLst>
              <a:ext uri="{FF2B5EF4-FFF2-40B4-BE49-F238E27FC236}">
                <a16:creationId xmlns:a16="http://schemas.microsoft.com/office/drawing/2014/main" id="{76A26BAD-6A50-762C-0BA8-FA4B015E79B5}"/>
              </a:ext>
            </a:extLst>
          </p:cNvPr>
          <p:cNvSpPr/>
          <p:nvPr/>
        </p:nvSpPr>
        <p:spPr>
          <a:xfrm>
            <a:off x="4622464" y="5697230"/>
            <a:ext cx="242316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Team Member</a:t>
            </a:r>
            <a:endParaRPr lang="en-US" sz="1100" dirty="0"/>
          </a:p>
        </p:txBody>
      </p:sp>
      <p:sp>
        <p:nvSpPr>
          <p:cNvPr id="90" name="Text 28">
            <a:extLst>
              <a:ext uri="{FF2B5EF4-FFF2-40B4-BE49-F238E27FC236}">
                <a16:creationId xmlns:a16="http://schemas.microsoft.com/office/drawing/2014/main" id="{96323DAE-57D9-6E39-0707-0E67262440B4}"/>
              </a:ext>
            </a:extLst>
          </p:cNvPr>
          <p:cNvSpPr/>
          <p:nvPr/>
        </p:nvSpPr>
        <p:spPr>
          <a:xfrm>
            <a:off x="457200" y="6446520"/>
            <a:ext cx="7315200" cy="320040"/>
          </a:xfrm>
          <a:prstGeom prst="rect">
            <a:avLst/>
          </a:prstGeom>
          <a:noFill/>
          <a:ln/>
        </p:spPr>
        <p:txBody>
          <a:bodyPr wrap="square" lIns="0" tIns="0" rIns="0" bIns="0" rtlCol="0" anchor="ctr"/>
          <a:lstStyle/>
          <a:p>
            <a:pPr marL="0" indent="0">
              <a:buNone/>
            </a:pPr>
            <a:r>
              <a:rPr lang="en-US" sz="1100" dirty="0">
                <a:solidFill>
                  <a:srgbClr val="8FA0B3"/>
                </a:solidFill>
                <a:latin typeface="Arial" pitchFamily="34" charset="0"/>
                <a:ea typeface="Arial" pitchFamily="34" charset="-122"/>
                <a:cs typeface="Arial" pitchFamily="34" charset="-120"/>
              </a:rPr>
              <a:t>Thank You  |  SIH 2026 – SIH26007</a:t>
            </a:r>
            <a:endParaRPr lang="en-US" sz="1100" dirty="0"/>
          </a:p>
        </p:txBody>
      </p:sp>
      <p:sp>
        <p:nvSpPr>
          <p:cNvPr id="95" name="Shape 0">
            <a:extLst>
              <a:ext uri="{FF2B5EF4-FFF2-40B4-BE49-F238E27FC236}">
                <a16:creationId xmlns:a16="http://schemas.microsoft.com/office/drawing/2014/main" id="{512F31E1-BF34-7693-15BC-C8A30682F475}"/>
              </a:ext>
            </a:extLst>
          </p:cNvPr>
          <p:cNvSpPr/>
          <p:nvPr/>
        </p:nvSpPr>
        <p:spPr>
          <a:xfrm>
            <a:off x="8138160" y="0"/>
            <a:ext cx="4050792" cy="6858000"/>
          </a:xfrm>
          <a:prstGeom prst="rect">
            <a:avLst/>
          </a:prstGeom>
          <a:solidFill>
            <a:srgbClr val="0B1B2E">
              <a:alpha val="75000"/>
            </a:srgbClr>
          </a:solidFill>
          <a:ln/>
        </p:spPr>
        <p:txBody>
          <a:bodyPr/>
          <a:lstStyle/>
          <a:p>
            <a:endParaRPr lang="en-IN"/>
          </a:p>
        </p:txBody>
      </p:sp>
      <p:pic>
        <p:nvPicPr>
          <p:cNvPr id="99" name="Image 0" descr="/home/claude/src_unpacked/ppt/media/image5.jpg">
            <a:extLst>
              <a:ext uri="{FF2B5EF4-FFF2-40B4-BE49-F238E27FC236}">
                <a16:creationId xmlns:a16="http://schemas.microsoft.com/office/drawing/2014/main" id="{98934B99-75EB-5BC8-14CB-ECE12639252A}"/>
              </a:ext>
            </a:extLst>
          </p:cNvPr>
          <p:cNvPicPr>
            <a:picLocks noChangeAspect="1"/>
          </p:cNvPicPr>
          <p:nvPr/>
        </p:nvPicPr>
        <p:blipFill>
          <a:blip r:embed="rId3"/>
          <a:srcRect/>
          <a:stretch/>
        </p:blipFill>
        <p:spPr>
          <a:xfrm>
            <a:off x="8138160" y="0"/>
            <a:ext cx="4050792" cy="6858000"/>
          </a:xfrm>
          <a:prstGeom prst="rect">
            <a:avLst/>
          </a:prstGeom>
        </p:spPr>
      </p:pic>
      <p:sp>
        <p:nvSpPr>
          <p:cNvPr id="101" name="Shape 0">
            <a:extLst>
              <a:ext uri="{FF2B5EF4-FFF2-40B4-BE49-F238E27FC236}">
                <a16:creationId xmlns:a16="http://schemas.microsoft.com/office/drawing/2014/main" id="{EAFF393F-9199-186F-BA63-047580DD7B07}"/>
              </a:ext>
            </a:extLst>
          </p:cNvPr>
          <p:cNvSpPr/>
          <p:nvPr/>
        </p:nvSpPr>
        <p:spPr>
          <a:xfrm>
            <a:off x="8138160" y="-21854"/>
            <a:ext cx="4050792" cy="6858000"/>
          </a:xfrm>
          <a:prstGeom prst="rect">
            <a:avLst/>
          </a:prstGeom>
          <a:solidFill>
            <a:srgbClr val="0B1B2E">
              <a:alpha val="75000"/>
            </a:srgbClr>
          </a:solidFill>
          <a:ln/>
        </p:spPr>
        <p:txBody>
          <a:bodyPr/>
          <a:lstStyle/>
          <a:p>
            <a:endParaRPr lang="en-IN"/>
          </a:p>
        </p:txBody>
      </p:sp>
      <p:sp>
        <p:nvSpPr>
          <p:cNvPr id="153" name="Text 26">
            <a:extLst>
              <a:ext uri="{FF2B5EF4-FFF2-40B4-BE49-F238E27FC236}">
                <a16:creationId xmlns:a16="http://schemas.microsoft.com/office/drawing/2014/main" id="{8E089B89-2310-AA9F-479F-DBA4D3950FEC}"/>
              </a:ext>
            </a:extLst>
          </p:cNvPr>
          <p:cNvSpPr/>
          <p:nvPr/>
        </p:nvSpPr>
        <p:spPr>
          <a:xfrm>
            <a:off x="5364480" y="5483352"/>
            <a:ext cx="2423160" cy="320040"/>
          </a:xfrm>
          <a:prstGeom prst="rect">
            <a:avLst/>
          </a:prstGeom>
          <a:noFill/>
          <a:ln/>
        </p:spPr>
        <p:txBody>
          <a:bodyPr wrap="square" lIns="0" tIns="0" rIns="0" bIns="0" rtlCol="0" anchor="ctr"/>
          <a:lstStyle/>
          <a:p>
            <a:pPr marL="0" indent="0">
              <a:buNone/>
            </a:pPr>
            <a:endParaRPr lang="en-US" sz="1350" dirty="0"/>
          </a:p>
        </p:txBody>
      </p:sp>
      <p:sp>
        <p:nvSpPr>
          <p:cNvPr id="155" name="Text 27">
            <a:extLst>
              <a:ext uri="{FF2B5EF4-FFF2-40B4-BE49-F238E27FC236}">
                <a16:creationId xmlns:a16="http://schemas.microsoft.com/office/drawing/2014/main" id="{BE5DFC74-20D4-1595-2434-C74B1DE217A5}"/>
              </a:ext>
            </a:extLst>
          </p:cNvPr>
          <p:cNvSpPr/>
          <p:nvPr/>
        </p:nvSpPr>
        <p:spPr>
          <a:xfrm>
            <a:off x="5364480" y="5794248"/>
            <a:ext cx="2423160" cy="320040"/>
          </a:xfrm>
          <a:prstGeom prst="rect">
            <a:avLst/>
          </a:prstGeom>
          <a:noFill/>
          <a:ln/>
        </p:spPr>
        <p:txBody>
          <a:bodyPr wrap="square" lIns="0" tIns="0" rIns="0" bIns="0" rtlCol="0" anchor="ctr"/>
          <a:lstStyle/>
          <a:p>
            <a:pPr marL="0" indent="0">
              <a:buNone/>
            </a:pPr>
            <a:endParaRPr lang="en-US" sz="1100" dirty="0"/>
          </a:p>
        </p:txBody>
      </p:sp>
    </p:spTree>
    <p:extLst>
      <p:ext uri="{BB962C8B-B14F-4D97-AF65-F5344CB8AC3E}">
        <p14:creationId xmlns:p14="http://schemas.microsoft.com/office/powerpoint/2010/main" val="3646196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2557</TotalTime>
  <Words>912</Words>
  <Application>Microsoft Office PowerPoint</Application>
  <PresentationFormat>Widescreen</PresentationFormat>
  <Paragraphs>111</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SUMIT MITTAL</cp:lastModifiedBy>
  <cp:revision>5</cp:revision>
  <dcterms:created xsi:type="dcterms:W3CDTF">2026-09-08T21:50:18Z</dcterms:created>
  <dcterms:modified xsi:type="dcterms:W3CDTF">2026-09-10T16:45:46Z</dcterms:modified>
</cp:coreProperties>
</file>